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70" r:id="rId7"/>
    <p:sldId id="267" r:id="rId8"/>
    <p:sldId id="259" r:id="rId9"/>
    <p:sldId id="269" r:id="rId10"/>
    <p:sldId id="260" r:id="rId11"/>
    <p:sldId id="261" r:id="rId12"/>
    <p:sldId id="262" r:id="rId13"/>
    <p:sldId id="263" r:id="rId14"/>
    <p:sldId id="265" r:id="rId1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0" userDrawn="1">
          <p15:clr>
            <a:srgbClr val="747775"/>
          </p15:clr>
        </p15:guide>
        <p15:guide id="2" pos="284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0"/>
        <p:guide pos="2848"/>
      </p:guideLst>
    </p:cSldViewPr>
  </p:slideViewPr>
  <p:gridSpacing cx="72008" cy="72008"/>
</p:viewPr>
</file>

<file path=ppt/_rels/presentation.xml.rels><?xml version="1.0" encoding="UTF-8"?><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28 May 2026</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Open by naming the topic and explaining why ethics matter in accounting. Emphasise that APES 110 is not only a compliance document; it is a public-interest framework for professional judgment.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28 May 2026</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Transition from the opening to the first three principles. Give the audience a simple listening task: notice how each principle protects the reliability of accounting work.</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28 May 2026</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Use quick examples rather than reading each box. For integrity, mention refusing misleading reports. For objectivity, mention conflicts of interest. For competence, mention knowing when to seek advice or decline work.</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28 May 2026</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Introduce confidentiality and professional behaviour as outward-facing responsibilities. Stress that accountants often handle sensitive information and represent the credibility of the profession.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28 May 2026</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Explain the difference between ordinary confidentiality and legal exceptions. Then connect professional behaviour to everyday conduct, such as honest communication and avoiding exaggerated claims.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28 May 2026</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Set up the case briefly, then ask the class what Sarah should do before revealing the breaches. Highlight that pressure from senior management is a threat, but it does not remove professional responsibility.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28 May 2026</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Close by linking the principles back to public trust. Remind the audience that the conceptual framework helps accountants move from recognising a risk to taking an appropriate action.</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End with one clear takeaway: ethical accounting is a professional obligation, not a personal preference. Invite questions and discussion.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28 May 2026</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Thank the audience and invite questions. If time allows, ask which principle they think is hardest to apply in real workplaces and why.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xml.rels><?xml version="1.0" encoding="UTF-8"?><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2.xml"/><Relationship Id="rId10" Type="http://schemas.openxmlformats.org/officeDocument/2006/relationships/slideLayout" Target="../slideLayouts/slideLayout12.xml"/><Relationship Id="rId1" Type="http://schemas.openxmlformats.org/officeDocument/2006/relationships/tags" Target="../tags/tag1.xml"/></Relationships>
</file>

<file path=ppt/slides/_rels/slide4.xml.rels><?xml version="1.0" encoding="UTF-8"?><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4" Type="http://schemas.openxmlformats.org/officeDocument/2006/relationships/notesSlide" Target="../notesSlides/notesSlide3.xml"/><Relationship Id="rId13" Type="http://schemas.openxmlformats.org/officeDocument/2006/relationships/slideLayout" Target="../slideLayouts/slideLayout1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5.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s>
</file>

<file path=ppt/slides/_rels/slide7.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1" Type="http://schemas.openxmlformats.org/officeDocument/2006/relationships/notesSlide" Target="../notesSlides/notesSlide7.xml"/><Relationship Id="rId10" Type="http://schemas.openxmlformats.org/officeDocument/2006/relationships/slideLayout" Target="../slideLayouts/slideLayout12.xml"/><Relationship Id="rId1" Type="http://schemas.openxmlformats.org/officeDocument/2006/relationships/tags" Target="../tags/tag26.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E4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0">
            <a:gsLst>
              <a:gs pos="0">
                <a:srgbClr val="B6CDF8">
                  <a:alpha val="100000"/>
                </a:srgbClr>
              </a:gs>
              <a:gs pos="100000">
                <a:srgbClr val="FFFFFF">
                  <a:alpha val="100000"/>
                </a:srgbClr>
              </a:gs>
            </a:gsLst>
            <a:lin ang="180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10800000" flipV="1">
            <a:off x="8610600" y="1257300"/>
            <a:ext cx="1765300" cy="1765300"/>
          </a:xfrm>
          <a:prstGeom prst="ellipse">
            <a:avLst/>
          </a:prstGeom>
          <a:gradFill rotWithShape="0">
            <a:gsLst>
              <a:gs pos="0">
                <a:srgbClr val="FFFFFF">
                  <a:alpha val="0"/>
                </a:srgbClr>
              </a:gs>
              <a:gs pos="100000">
                <a:srgbClr val="3A76E9">
                  <a:alpha val="17000"/>
                </a:srgbClr>
              </a:gs>
            </a:gsLst>
            <a:lin ang="207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rot="-2700000" flipV="1">
            <a:off x="1562100" y="2209800"/>
            <a:ext cx="2032000" cy="3835400"/>
          </a:xfrm>
          <a:prstGeom prst="round2SameRect">
            <a:avLst>
              <a:gd name="adj1" fmla="val 49936"/>
              <a:gd name="adj2" fmla="val 0"/>
            </a:avLst>
          </a:prstGeom>
          <a:gradFill rotWithShape="1">
            <a:gsLst>
              <a:gs pos="0">
                <a:srgbClr val="FFFFFF">
                  <a:alpha val="100000"/>
                </a:srgbClr>
              </a:gs>
              <a:gs pos="87000">
                <a:srgbClr val="FFFFFF">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rot="8100000" flipV="1">
            <a:off x="1866900" y="1003300"/>
            <a:ext cx="2032000" cy="3771900"/>
          </a:xfrm>
          <a:prstGeom prst="round2SameRect">
            <a:avLst>
              <a:gd name="adj1" fmla="val 49936"/>
              <a:gd name="adj2" fmla="val 0"/>
            </a:avLst>
          </a:prstGeom>
          <a:gradFill rotWithShape="1">
            <a:gsLst>
              <a:gs pos="0">
                <a:srgbClr val="FFFFFF">
                  <a:alpha val="0"/>
                </a:srgbClr>
              </a:gs>
              <a:gs pos="56000">
                <a:srgbClr val="3A76E9">
                  <a:alpha val="34000"/>
                </a:srgbClr>
              </a:gs>
              <a:gs pos="98000">
                <a:srgbClr val="3A76E9">
                  <a:alpha val="55000"/>
                </a:srgbClr>
              </a:gs>
            </a:gsLst>
            <a:lin ang="16200000"/>
          </a:gra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4521200" y="1651000"/>
            <a:ext cx="6731000" cy="1016000"/>
          </a:xfrm>
          <a:prstGeom prst="rect">
            <a:avLst/>
          </a:prstGeom>
          <a:noFill/>
          <a:ln w="12700" cap="flat" cmpd="sng">
            <a:noFill/>
            <a:prstDash val="solid"/>
            <a:round/>
          </a:ln>
        </p:spPr>
        <p:txBody>
          <a:bodyPr vert="horz" wrap="square" lIns="0" tIns="0" rIns="0" bIns="0" rtlCol="0" anchor="b" anchorCtr="0"/>
          <a:lstStyle/>
          <a:p>
            <a:pPr marL="0" indent="0" algn="r">
              <a:lnSpc>
                <a:spcPct val="100000"/>
              </a:lnSpc>
              <a:spcBef>
                <a:spcPts val="600"/>
              </a:spcBef>
              <a:defRPr/>
            </a:pPr>
            <a:endParaRPr lang="en-US" sz="1100"/>
          </a:p>
        </p:txBody>
      </p:sp>
      <p:sp>
        <p:nvSpPr>
          <p:cNvPr id="7" name="AutoShape 7"/>
          <p:cNvSpPr/>
          <p:nvPr/>
        </p:nvSpPr>
        <p:spPr>
          <a:xfrm>
            <a:off x="3417570" y="996950"/>
            <a:ext cx="8589645" cy="2286000"/>
          </a:xfrm>
          <a:prstGeom prst="rect">
            <a:avLst/>
          </a:prstGeom>
          <a:noFill/>
          <a:ln w="12700" cap="flat" cmpd="sng">
            <a:noFill/>
            <a:prstDash val="solid"/>
            <a:round/>
          </a:ln>
        </p:spPr>
        <p:txBody>
          <a:bodyPr vert="horz" wrap="square" lIns="0" tIns="0" rIns="0" bIns="0" rtlCol="0" anchor="t" anchorCtr="0"/>
          <a:lstStyle/>
          <a:p>
            <a:pPr marL="0" indent="0" algn="l">
              <a:lnSpc>
                <a:spcPct val="92000"/>
              </a:lnSpc>
              <a:defRPr/>
            </a:pPr>
            <a:r>
              <a:rPr lang="en-US" sz="4800" b="1">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rPr>
              <a:t>Five Fundamental Principles</a:t>
            </a:r>
            <a:endParaRPr lang="en-US" sz="4800">
              <a:latin typeface="Times New Roman" panose="02020603050405020304" charset="0"/>
              <a:cs typeface="Times New Roman" panose="02020603050405020304" charset="0"/>
            </a:endParaRPr>
          </a:p>
          <a:p>
            <a:pPr marL="0" indent="0" algn="l">
              <a:lnSpc>
                <a:spcPct val="92000"/>
              </a:lnSpc>
              <a:defRPr/>
            </a:pPr>
            <a:r>
              <a:rPr lang="en-US" sz="4800" b="1" i="0" u="none" strike="noStrike">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rPr>
              <a:t>of Ethics for Professional Accountants</a:t>
            </a:r>
            <a:endParaRPr lang="en-US" sz="4800" b="1" i="0" u="none" strike="noStrike">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
        <p:nvSpPr>
          <p:cNvPr id="8" name="AutoShape 8"/>
          <p:cNvSpPr/>
          <p:nvPr/>
        </p:nvSpPr>
        <p:spPr>
          <a:xfrm>
            <a:off x="6882130" y="4298315"/>
            <a:ext cx="4370070" cy="1480185"/>
          </a:xfrm>
          <a:prstGeom prst="roundRect">
            <a:avLst>
              <a:gd name="adj" fmla="val 24615"/>
            </a:avLst>
          </a:prstGeom>
          <a:solidFill>
            <a:srgbClr val="3A76E9">
              <a:alpha val="100000"/>
            </a:srgbClr>
          </a:solidFill>
          <a:ln w="25400" cap="flat" cmpd="sng">
            <a:noFill/>
            <a:prstDash val="solid"/>
            <a:round/>
          </a:ln>
        </p:spPr>
        <p:txBody>
          <a:bodyPr vert="horz" wrap="square" lIns="101600" tIns="101600" rIns="101600" bIns="101600" rtlCol="0" anchor="ctr" anchorCtr="0"/>
          <a:lstStyle/>
          <a:p>
            <a:pPr marL="0" indent="0" algn="ctr">
              <a:lnSpc>
                <a:spcPct val="108000"/>
              </a:lnSpc>
              <a:defRPr/>
            </a:pPr>
            <a:r>
              <a:rPr lang="en-US" sz="2800" b="0" i="0" u="none" strike="noStrike">
                <a:solidFill>
                  <a:srgbClr val="FFFFFF"/>
                </a:solidFill>
                <a:latin typeface="Times New Roman" panose="02020603050405020304" charset="0"/>
                <a:ea typeface="Arial" panose="020B0604020202020204"/>
                <a:cs typeface="Times New Roman" panose="02020603050405020304" charset="0"/>
                <a:sym typeface="Arial" panose="020B0604020202020204"/>
              </a:rPr>
              <a:t>Presenter: Shiqi Hu</a:t>
            </a:r>
            <a:endParaRPr lang="en-US" sz="2800" b="0" i="0" u="none" strike="noStrike">
              <a:solidFill>
                <a:srgbClr val="FFFFFF"/>
              </a:solidFill>
              <a:latin typeface="Times New Roman" panose="02020603050405020304" charset="0"/>
              <a:ea typeface="Arial" panose="020B0604020202020204"/>
              <a:cs typeface="Times New Roman" panose="02020603050405020304" charset="0"/>
              <a:sym typeface="Arial" panose="020B0604020202020204"/>
            </a:endParaRPr>
          </a:p>
          <a:p>
            <a:pPr marL="0" indent="0" algn="ctr">
              <a:lnSpc>
                <a:spcPct val="108000"/>
              </a:lnSpc>
              <a:defRPr/>
            </a:pPr>
            <a:r>
              <a:rPr lang="en-US" sz="2800" b="0" i="0" u="none" strike="noStrike">
                <a:solidFill>
                  <a:srgbClr val="FFFFFF"/>
                </a:solidFill>
                <a:latin typeface="Times New Roman" panose="02020603050405020304" charset="0"/>
                <a:ea typeface="Arial" panose="020B0604020202020204"/>
                <a:cs typeface="Times New Roman" panose="02020603050405020304" charset="0"/>
                <a:sym typeface="Arial" panose="020B0604020202020204"/>
              </a:rPr>
              <a:t>Date: 28 May 2026</a:t>
            </a:r>
            <a:endParaRPr lang="en-US" sz="2800" b="0" i="0" u="none" strike="noStrike">
              <a:solidFill>
                <a:srgbClr val="FFFFFF"/>
              </a:solidFill>
              <a:latin typeface="Times New Roman" panose="02020603050405020304" charset="0"/>
              <a:ea typeface="Arial" panose="020B0604020202020204"/>
              <a:cs typeface="Times New Roman" panose="02020603050405020304" charset="0"/>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9855" y="0"/>
            <a:ext cx="12661900" cy="68865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07415" y="381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xml:space="preserve">Principles 1-3: </a:t>
            </a:r>
            <a:r>
              <a:rPr lang="en-US" sz="3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Fundamental Principles</a:t>
            </a:r>
            <a:endParaRPr lang="en-US" sz="1100"/>
          </a:p>
        </p:txBody>
      </p:sp>
      <p:sp>
        <p:nvSpPr>
          <p:cNvPr id="3" name="AutoShape 3"/>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2800" b="0" i="0" u="none" strike="noStrike">
                <a:solidFill>
                  <a:srgbClr val="4B5563"/>
                </a:solidFill>
                <a:latin typeface="Times New Roman" panose="02020603050405020304" charset="0"/>
                <a:ea typeface="Noto Sans SC" panose="020B0200000000000000" charset="-122"/>
                <a:cs typeface="Times New Roman" panose="02020603050405020304" charset="0"/>
                <a:sym typeface="Noto Sans SC" panose="020B0200000000000000" charset="-122"/>
              </a:rPr>
              <a:t>APES 110 Section 110 sets out five core principles that guide professional accountants in serving the public interest.</a:t>
            </a:r>
            <a:endParaRPr lang="en-US" sz="2800">
              <a:latin typeface="Times New Roman" panose="02020603050405020304" charset="0"/>
              <a:cs typeface="Times New Roman" panose="02020603050405020304" charset="0"/>
            </a:endParaRPr>
          </a:p>
        </p:txBody>
      </p:sp>
      <p:sp>
        <p:nvSpPr>
          <p:cNvPr id="4" name="AutoShape 4"/>
          <p:cNvSpPr/>
          <p:nvPr>
            <p:custDataLst>
              <p:tags r:id="rId1"/>
            </p:custDataLst>
          </p:nvPr>
        </p:nvSpPr>
        <p:spPr>
          <a:xfrm>
            <a:off x="685800" y="2540000"/>
            <a:ext cx="3378200" cy="3556000"/>
          </a:xfrm>
          <a:prstGeom prst="roundRect">
            <a:avLst>
              <a:gd name="adj" fmla="val 4615"/>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1016000" y="2794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65DFF"/>
                </a:solidFill>
                <a:latin typeface="Times New Roman" panose="02020603050405020304" charset="0"/>
                <a:ea typeface="Noto Sans SC" panose="020B0200000000000000" charset="-122"/>
                <a:cs typeface="Times New Roman" panose="02020603050405020304" charset="0"/>
                <a:sym typeface="Noto Sans SC" panose="020B0200000000000000" charset="-122"/>
              </a:rPr>
              <a:t>01 Integrity</a:t>
            </a:r>
            <a:endParaRPr lang="en-US" sz="2800">
              <a:latin typeface="Times New Roman" panose="02020603050405020304" charset="0"/>
              <a:cs typeface="Times New Roman" panose="02020603050405020304" charset="0"/>
            </a:endParaRPr>
          </a:p>
        </p:txBody>
      </p:sp>
      <p:sp>
        <p:nvSpPr>
          <p:cNvPr id="6" name="AutoShape 6"/>
          <p:cNvSpPr/>
          <p:nvPr>
            <p:custDataLst>
              <p:tags r:id="rId3"/>
            </p:custDataLst>
          </p:nvPr>
        </p:nvSpPr>
        <p:spPr>
          <a:xfrm>
            <a:off x="1016000" y="3556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Be straightforward and honest in all professional and business relationships.</a:t>
            </a:r>
            <a:endParaRPr lang="en-US" sz="2400">
              <a:latin typeface="Times New Roman" panose="02020603050405020304" charset="0"/>
              <a:cs typeface="Times New Roman" panose="02020603050405020304" charset="0"/>
            </a:endParaRPr>
          </a:p>
        </p:txBody>
      </p:sp>
      <p:sp>
        <p:nvSpPr>
          <p:cNvPr id="7" name="AutoShape 7"/>
          <p:cNvSpPr/>
          <p:nvPr>
            <p:custDataLst>
              <p:tags r:id="rId4"/>
            </p:custDataLst>
          </p:nvPr>
        </p:nvSpPr>
        <p:spPr>
          <a:xfrm>
            <a:off x="4351655" y="2470785"/>
            <a:ext cx="3395345" cy="3625215"/>
          </a:xfrm>
          <a:prstGeom prst="roundRect">
            <a:avLst>
              <a:gd name="adj" fmla="val 4615"/>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5"/>
            </p:custDataLst>
          </p:nvPr>
        </p:nvSpPr>
        <p:spPr>
          <a:xfrm>
            <a:off x="4699000" y="2794000"/>
            <a:ext cx="2794000" cy="635000"/>
          </a:xfrm>
          <a:prstGeom prst="rect">
            <a:avLst/>
          </a:prstGeom>
          <a:noFill/>
          <a:ln w="12700" cap="flat" cmpd="sng">
            <a:noFill/>
            <a:prstDash val="solid"/>
            <a:round/>
          </a:ln>
        </p:spPr>
        <p:txBody>
          <a:bodyPr vert="horz" wrap="square" lIns="0" tIns="0" rIns="0" bIns="0" rtlCol="0" anchor="ctr" anchorCtr="0"/>
          <a:lstStyle/>
          <a:p>
            <a:pPr algn="l">
              <a:lnSpc>
                <a:spcPct val="125000"/>
              </a:lnSpc>
              <a:buSzTx/>
              <a:defRPr/>
            </a:pPr>
            <a:r>
              <a:rPr lang="en-US" sz="2800" b="1" i="0" u="none" strike="noStrike">
                <a:solidFill>
                  <a:srgbClr val="165DFF"/>
                </a:solidFill>
                <a:latin typeface="Times New Roman" panose="02020603050405020304" charset="0"/>
                <a:ea typeface="Noto Sans SC" panose="020B0200000000000000" charset="-122"/>
                <a:cs typeface="Times New Roman" panose="02020603050405020304" charset="0"/>
                <a:sym typeface="Noto Sans SC" panose="020B0200000000000000" charset="-122"/>
              </a:rPr>
              <a:t>02 Objectivity</a:t>
            </a:r>
            <a:endParaRPr lang="en-US" sz="2800" b="1">
              <a:solidFill>
                <a:srgbClr val="165DFF"/>
              </a:solidFill>
              <a:latin typeface="Times New Roman" panose="02020603050405020304" charset="0"/>
              <a:ea typeface="Noto Sans SC" panose="020B0200000000000000" charset="-122"/>
              <a:cs typeface="Times New Roman" panose="02020603050405020304" charset="0"/>
            </a:endParaRPr>
          </a:p>
        </p:txBody>
      </p:sp>
      <p:sp>
        <p:nvSpPr>
          <p:cNvPr id="9" name="AutoShape 9"/>
          <p:cNvSpPr/>
          <p:nvPr>
            <p:custDataLst>
              <p:tags r:id="rId6"/>
            </p:custDataLst>
          </p:nvPr>
        </p:nvSpPr>
        <p:spPr>
          <a:xfrm>
            <a:off x="4699000" y="3556000"/>
            <a:ext cx="2794000" cy="2286000"/>
          </a:xfrm>
          <a:prstGeom prst="rect">
            <a:avLst/>
          </a:prstGeom>
          <a:noFill/>
          <a:ln w="12700" cap="flat" cmpd="sng">
            <a:noFill/>
            <a:prstDash val="solid"/>
            <a:round/>
          </a:ln>
        </p:spPr>
        <p:txBody>
          <a:bodyPr vert="horz" wrap="square" lIns="0" tIns="0" rIns="0" bIns="0" rtlCol="0" anchor="ctr" anchorCtr="0"/>
          <a:lstStyle/>
          <a:p>
            <a:pPr algn="l">
              <a:lnSpc>
                <a:spcPct val="117000"/>
              </a:lnSpc>
              <a:buSzTx/>
              <a:defRPr/>
            </a:pP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Avoid bias, conflicts of interest, and undue influence when exercising professional judgment.</a:t>
            </a:r>
            <a:endParaRPr lang="en-US" sz="24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10" name="AutoShape 10"/>
          <p:cNvSpPr/>
          <p:nvPr>
            <p:custDataLst>
              <p:tags r:id="rId7"/>
            </p:custDataLst>
          </p:nvPr>
        </p:nvSpPr>
        <p:spPr>
          <a:xfrm>
            <a:off x="7927975" y="2470785"/>
            <a:ext cx="3502025" cy="3625215"/>
          </a:xfrm>
          <a:prstGeom prst="roundRect">
            <a:avLst>
              <a:gd name="adj" fmla="val 4615"/>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8"/>
            </p:custDataLst>
          </p:nvPr>
        </p:nvSpPr>
        <p:spPr>
          <a:xfrm>
            <a:off x="8128000" y="2673350"/>
            <a:ext cx="3558540" cy="1001395"/>
          </a:xfrm>
          <a:prstGeom prst="rect">
            <a:avLst/>
          </a:prstGeom>
          <a:noFill/>
          <a:ln w="12700" cap="flat" cmpd="sng">
            <a:noFill/>
            <a:prstDash val="solid"/>
            <a:round/>
          </a:ln>
        </p:spPr>
        <p:txBody>
          <a:bodyPr vert="horz" wrap="square" lIns="0" tIns="0" rIns="0" bIns="0" rtlCol="0" anchor="ctr" anchorCtr="0"/>
          <a:lstStyle/>
          <a:p>
            <a:pPr algn="l">
              <a:lnSpc>
                <a:spcPct val="125000"/>
              </a:lnSpc>
              <a:buSzTx/>
              <a:defRPr/>
            </a:pPr>
            <a:r>
              <a:rPr lang="en-US" sz="2800" b="1" i="0" u="none" strike="noStrike">
                <a:solidFill>
                  <a:srgbClr val="165DFF"/>
                </a:solidFill>
                <a:latin typeface="Times New Roman" panose="02020603050405020304" charset="0"/>
                <a:ea typeface="Noto Sans SC" panose="020B0200000000000000" charset="-122"/>
                <a:cs typeface="Times New Roman" panose="02020603050405020304" charset="0"/>
                <a:sym typeface="Noto Sans SC" panose="020B0200000000000000" charset="-122"/>
              </a:rPr>
              <a:t>03 Professional Competence and Due Care</a:t>
            </a:r>
            <a:endParaRPr lang="en-US" sz="2800" b="1">
              <a:solidFill>
                <a:srgbClr val="165DFF"/>
              </a:solidFill>
              <a:latin typeface="Times New Roman" panose="02020603050405020304" charset="0"/>
              <a:ea typeface="Noto Sans SC" panose="020B0200000000000000" charset="-122"/>
              <a:cs typeface="Times New Roman" panose="02020603050405020304" charset="0"/>
            </a:endParaRPr>
          </a:p>
        </p:txBody>
      </p:sp>
      <p:sp>
        <p:nvSpPr>
          <p:cNvPr id="12" name="AutoShape 12"/>
          <p:cNvSpPr/>
          <p:nvPr>
            <p:custDataLst>
              <p:tags r:id="rId9"/>
            </p:custDataLst>
          </p:nvPr>
        </p:nvSpPr>
        <p:spPr>
          <a:xfrm>
            <a:off x="8305800" y="3810000"/>
            <a:ext cx="3055620" cy="2286000"/>
          </a:xfrm>
          <a:prstGeom prst="rect">
            <a:avLst/>
          </a:prstGeom>
          <a:noFill/>
          <a:ln w="12700" cap="flat" cmpd="sng">
            <a:noFill/>
            <a:prstDash val="solid"/>
            <a:round/>
          </a:ln>
        </p:spPr>
        <p:txBody>
          <a:bodyPr vert="horz" wrap="square" lIns="0" tIns="0" rIns="0" bIns="0" rtlCol="0" anchor="ctr" anchorCtr="0"/>
          <a:lstStyle/>
          <a:p>
            <a:pPr algn="l">
              <a:lnSpc>
                <a:spcPct val="117000"/>
              </a:lnSpc>
              <a:buSzTx/>
              <a:defRPr/>
            </a:pP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Maintain professional knowledge and skill, and act diligently in accordance with applicable standards.</a:t>
            </a:r>
            <a:endPar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xml:space="preserve">Principles 1-3: </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Applying the Concepts</a:t>
            </a:r>
            <a:endPar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custDataLst>
              <p:tags r:id="rId1"/>
            </p:custDataLst>
          </p:nvPr>
        </p:nvSpPr>
        <p:spPr>
          <a:xfrm>
            <a:off x="762000" y="1778000"/>
            <a:ext cx="3302000" cy="4445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1016000" y="183642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a:latin typeface="Times New Roman" panose="02020603050405020304" charset="0"/>
                <a:cs typeface="Times New Roman" panose="02020603050405020304" charset="0"/>
              </a:rPr>
              <a:t>01</a:t>
            </a:r>
            <a:endParaRPr lang="en-US" sz="1100"/>
          </a:p>
        </p:txBody>
      </p:sp>
      <p:sp>
        <p:nvSpPr>
          <p:cNvPr id="5" name="AutoShape 5"/>
          <p:cNvSpPr/>
          <p:nvPr>
            <p:custDataLst>
              <p:tags r:id="rId3"/>
            </p:custDataLst>
          </p:nvPr>
        </p:nvSpPr>
        <p:spPr>
          <a:xfrm>
            <a:off x="1016000" y="280924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Integrity</a:t>
            </a:r>
            <a:endParaRPr lang="en-US" sz="24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6" name="AutoShape 6"/>
          <p:cNvSpPr/>
          <p:nvPr>
            <p:custDataLst>
              <p:tags r:id="rId4"/>
            </p:custDataLst>
          </p:nvPr>
        </p:nvSpPr>
        <p:spPr>
          <a:xfrm>
            <a:off x="960755" y="40005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3B82F6"/>
                </a:solidFill>
                <a:latin typeface="Times New Roman" panose="02020603050405020304" charset="0"/>
                <a:ea typeface="Noto Sans SC" panose="020B0200000000000000" charset="-122"/>
                <a:cs typeface="Times New Roman" panose="02020603050405020304" charset="0"/>
                <a:sym typeface="Noto Sans SC" panose="020B0200000000000000" charset="-122"/>
              </a:rPr>
              <a:t>Application</a:t>
            </a:r>
            <a:endParaRPr lang="en-US" sz="2400">
              <a:latin typeface="Times New Roman" panose="02020603050405020304" charset="0"/>
              <a:cs typeface="Times New Roman" panose="02020603050405020304" charset="0"/>
            </a:endParaRPr>
          </a:p>
          <a:p>
            <a:pPr marL="0" algn="l">
              <a:lnSpc>
                <a:spcPct val="117000"/>
              </a:lnSpc>
              <a:buSzTx/>
            </a:pP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Do not be associated with false or misleading information; correct errors promptly.</a:t>
            </a:r>
            <a:endPar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7" name="AutoShape 7"/>
          <p:cNvSpPr/>
          <p:nvPr/>
        </p:nvSpPr>
        <p:spPr>
          <a:xfrm>
            <a:off x="1016000" y="50800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5"/>
            </p:custDataLst>
          </p:nvPr>
        </p:nvSpPr>
        <p:spPr>
          <a:xfrm>
            <a:off x="4445000" y="1778000"/>
            <a:ext cx="3302000" cy="4445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6"/>
            </p:custDataLst>
          </p:nvPr>
        </p:nvSpPr>
        <p:spPr>
          <a:xfrm>
            <a:off x="4699000" y="1836420"/>
            <a:ext cx="2794000" cy="762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48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02</a:t>
            </a:r>
            <a:endParaRPr lang="en-US" sz="48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10" name="AutoShape 10"/>
          <p:cNvSpPr/>
          <p:nvPr>
            <p:custDataLst>
              <p:tags r:id="rId7"/>
            </p:custDataLst>
          </p:nvPr>
        </p:nvSpPr>
        <p:spPr>
          <a:xfrm>
            <a:off x="4730115" y="2809240"/>
            <a:ext cx="2794000"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24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Objectivity</a:t>
            </a:r>
            <a:endParaRPr lang="en-US" sz="24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11" name="AutoShape 11"/>
          <p:cNvSpPr/>
          <p:nvPr>
            <p:custDataLst>
              <p:tags r:id="rId8"/>
            </p:custDataLst>
          </p:nvPr>
        </p:nvSpPr>
        <p:spPr>
          <a:xfrm>
            <a:off x="4699000" y="41275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pPr>
            <a:r>
              <a:rPr lang="en-US" sz="2400" b="1">
                <a:solidFill>
                  <a:srgbClr val="3B82F6"/>
                </a:solidFill>
                <a:latin typeface="Times New Roman" panose="02020603050405020304" charset="0"/>
                <a:ea typeface="Noto Sans SC" panose="020B0200000000000000" charset="-122"/>
                <a:cs typeface="Times New Roman" panose="02020603050405020304" charset="0"/>
                <a:sym typeface="Noto Sans SC" panose="020B0200000000000000" charset="-122"/>
              </a:rPr>
              <a:t>Application</a:t>
            </a:r>
            <a:endParaRPr lang="en-US" sz="2400">
              <a:latin typeface="Times New Roman" panose="02020603050405020304" charset="0"/>
              <a:cs typeface="Times New Roman" panose="02020603050405020304" charset="0"/>
            </a:endParaRPr>
          </a:p>
          <a:p>
            <a:pPr marL="0" indent="0" algn="l">
              <a:lnSpc>
                <a:spcPct val="117000"/>
              </a:lnSpc>
            </a:pP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Do not allow personal relationships or financial interests to influence professional judgment.</a:t>
            </a:r>
            <a:endPar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12" name="AutoShape 12"/>
          <p:cNvSpPr/>
          <p:nvPr/>
        </p:nvSpPr>
        <p:spPr>
          <a:xfrm>
            <a:off x="4699000" y="50800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9"/>
            </p:custDataLst>
          </p:nvPr>
        </p:nvSpPr>
        <p:spPr>
          <a:xfrm>
            <a:off x="8128000" y="1778000"/>
            <a:ext cx="3302000" cy="4445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14" name="AutoShape 14"/>
          <p:cNvSpPr/>
          <p:nvPr>
            <p:custDataLst>
              <p:tags r:id="rId10"/>
            </p:custDataLst>
          </p:nvPr>
        </p:nvSpPr>
        <p:spPr>
          <a:xfrm>
            <a:off x="8382000" y="1778000"/>
            <a:ext cx="2794000" cy="762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4800">
                <a:solidFill>
                  <a:schemeClr val="tx1"/>
                </a:solidFill>
                <a:latin typeface="Times New Roman" panose="02020603050405020304" charset="0"/>
                <a:ea typeface="Noto Sans SC" panose="020B0200000000000000" charset="-122"/>
                <a:cs typeface="Times New Roman" panose="02020603050405020304" charset="0"/>
              </a:rPr>
              <a:t>03</a:t>
            </a:r>
            <a:endParaRPr lang="en-US" sz="48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15" name="AutoShape 15"/>
          <p:cNvSpPr/>
          <p:nvPr>
            <p:custDataLst>
              <p:tags r:id="rId11"/>
            </p:custDataLst>
          </p:nvPr>
        </p:nvSpPr>
        <p:spPr>
          <a:xfrm>
            <a:off x="8190230" y="2540000"/>
            <a:ext cx="3684905" cy="920115"/>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24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Professional Competence</a:t>
            </a:r>
            <a:endParaRPr lang="en-US" sz="24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a:p>
            <a:pPr marL="0" algn="l">
              <a:lnSpc>
                <a:spcPct val="125000"/>
              </a:lnSpc>
              <a:buSzTx/>
              <a:defRPr/>
            </a:pPr>
            <a:r>
              <a:rPr lang="en-US" sz="240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and Due Care</a:t>
            </a:r>
            <a:endParaRPr lang="en-US" sz="2400">
              <a:solidFill>
                <a:schemeClr val="tx1"/>
              </a:solidFill>
              <a:latin typeface="Times New Roman" panose="02020603050405020304" charset="0"/>
              <a:ea typeface="Noto Sans SC" panose="020B0200000000000000" charset="-122"/>
              <a:cs typeface="Times New Roman" panose="02020603050405020304" charset="0"/>
            </a:endParaRPr>
          </a:p>
        </p:txBody>
      </p:sp>
      <p:sp>
        <p:nvSpPr>
          <p:cNvPr id="16" name="AutoShape 16"/>
          <p:cNvSpPr/>
          <p:nvPr>
            <p:custDataLst>
              <p:tags r:id="rId12"/>
            </p:custDataLst>
          </p:nvPr>
        </p:nvSpPr>
        <p:spPr>
          <a:xfrm>
            <a:off x="8251190" y="405384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a:solidFill>
                  <a:srgbClr val="3B82F6"/>
                </a:solidFill>
                <a:latin typeface="Times New Roman" panose="02020603050405020304" charset="0"/>
                <a:ea typeface="Noto Sans SC" panose="020B0200000000000000" charset="-122"/>
                <a:cs typeface="Times New Roman" panose="02020603050405020304" charset="0"/>
                <a:sym typeface="Noto Sans SC" panose="020B0200000000000000" charset="-122"/>
              </a:rPr>
              <a:t>Application</a:t>
            </a:r>
            <a:endParaRPr lang="en-US" sz="2400">
              <a:latin typeface="Times New Roman" panose="02020603050405020304" charset="0"/>
              <a:cs typeface="Times New Roman" panose="02020603050405020304" charset="0"/>
            </a:endParaRPr>
          </a:p>
          <a:p>
            <a:pPr marL="0" indent="0" algn="l">
              <a:lnSpc>
                <a:spcPct val="100000"/>
              </a:lnSpc>
              <a:defRPr/>
            </a:pPr>
            <a:r>
              <a:rPr lang="en-US" sz="20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
            </a:r>
            <a:r>
              <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Keep knowledge current; accept only work you are competent to perform; supervise junior staff appropriately.</a:t>
            </a:r>
            <a:endParaRPr lang="en-US" sz="24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17" name="AutoShape 17"/>
          <p:cNvSpPr/>
          <p:nvPr/>
        </p:nvSpPr>
        <p:spPr>
          <a:xfrm>
            <a:off x="8382000" y="52705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xml:space="preserve">Principles 4-5: </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Fundamental Principles</a:t>
            </a:r>
            <a:endParaRPr lang="en-US" sz="1100"/>
          </a:p>
        </p:txBody>
      </p:sp>
      <p:sp>
        <p:nvSpPr>
          <p:cNvPr id="3" name="AutoShape 3"/>
          <p:cNvSpPr/>
          <p:nvPr/>
        </p:nvSpPr>
        <p:spPr>
          <a:xfrm>
            <a:off x="762000" y="1778000"/>
            <a:ext cx="5207000" cy="4318000"/>
          </a:xfrm>
          <a:prstGeom prst="roundRect">
            <a:avLst>
              <a:gd name="adj" fmla="val 3529"/>
            </a:avLst>
          </a:prstGeom>
          <a:solidFill>
            <a:srgbClr val="E0F2FE">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28700" y="2159000"/>
            <a:ext cx="4673600" cy="762000"/>
          </a:xfrm>
          <a:prstGeom prst="roundRect">
            <a:avLst>
              <a:gd name="adj" fmla="val 0"/>
            </a:avLst>
          </a:prstGeom>
          <a:noFill/>
          <a:ln w="25400" cap="flat" cmpd="sng">
            <a:noFill/>
            <a:prstDash val="solid"/>
            <a:round/>
          </a:ln>
        </p:spPr>
        <p:txBody>
          <a:bodyPr vert="horz" wrap="square" lIns="0" tIns="0" rIns="0" bIns="0" rtlCol="0" anchor="ctr" anchorCtr="0"/>
          <a:lstStyle/>
          <a:p>
            <a:pPr algn="l">
              <a:lnSpc>
                <a:spcPct val="125000"/>
              </a:lnSpc>
              <a:buSzTx/>
              <a:defRPr/>
            </a:pPr>
            <a:r>
              <a:rPr lang="en-US" sz="2800" b="1" i="0" u="none" strike="noStrike">
                <a:solidFill>
                  <a:srgbClr val="165DFF"/>
                </a:solidFill>
                <a:latin typeface="Times New Roman" panose="02020603050405020304" charset="0"/>
                <a:ea typeface="Noto Sans SC" panose="020B0200000000000000" charset="-122"/>
                <a:cs typeface="Times New Roman" panose="02020603050405020304" charset="0"/>
                <a:sym typeface="Times New Roman" panose="02020603050405020304"/>
              </a:rPr>
              <a:t>04. Confidentiality</a:t>
            </a:r>
            <a:endParaRPr lang="en-US" sz="2800" b="1">
              <a:solidFill>
                <a:srgbClr val="165DFF"/>
              </a:solidFill>
              <a:latin typeface="Times New Roman" panose="02020603050405020304" charset="0"/>
              <a:ea typeface="Noto Sans SC" panose="020B0200000000000000" charset="-122"/>
              <a:cs typeface="Times New Roman" panose="02020603050405020304" charset="0"/>
            </a:endParaRPr>
          </a:p>
        </p:txBody>
      </p:sp>
      <p:sp>
        <p:nvSpPr>
          <p:cNvPr id="5" name="AutoShape 5"/>
          <p:cNvSpPr/>
          <p:nvPr/>
        </p:nvSpPr>
        <p:spPr>
          <a:xfrm>
            <a:off x="1028700" y="3302000"/>
            <a:ext cx="4673600" cy="228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17000"/>
              </a:lnSpc>
              <a:defRPr/>
            </a:pPr>
            <a:r>
              <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Protect sensitive information obtained through professional work, unless disclosure is properly authorised or legally required.</a:t>
            </a:r>
            <a:endParaRPr lang="en-US" sz="2400">
              <a:latin typeface="Times New Roman" panose="02020603050405020304" charset="0"/>
              <a:cs typeface="Times New Roman" panose="02020603050405020304" charset="0"/>
            </a:endParaRPr>
          </a:p>
        </p:txBody>
      </p:sp>
      <p:sp>
        <p:nvSpPr>
          <p:cNvPr id="6" name="AutoShape 6"/>
          <p:cNvSpPr/>
          <p:nvPr/>
        </p:nvSpPr>
        <p:spPr>
          <a:xfrm>
            <a:off x="6223000" y="1778000"/>
            <a:ext cx="5207000" cy="4318000"/>
          </a:xfrm>
          <a:prstGeom prst="roundRect">
            <a:avLst>
              <a:gd name="adj" fmla="val 3529"/>
            </a:avLst>
          </a:prstGeom>
          <a:solidFill>
            <a:srgbClr val="E0F2FE">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489700" y="2159000"/>
            <a:ext cx="4673600" cy="762000"/>
          </a:xfrm>
          <a:prstGeom prst="roundRect">
            <a:avLst>
              <a:gd name="adj" fmla="val 0"/>
            </a:avLst>
          </a:prstGeom>
          <a:noFill/>
          <a:ln w="25400" cap="flat" cmpd="sng">
            <a:noFill/>
            <a:prstDash val="solid"/>
            <a:round/>
          </a:ln>
        </p:spPr>
        <p:txBody>
          <a:bodyPr vert="horz" wrap="square" lIns="0" tIns="0" rIns="0" bIns="0" rtlCol="0" anchor="ctr" anchorCtr="0"/>
          <a:lstStyle/>
          <a:p>
            <a:pPr algn="l">
              <a:lnSpc>
                <a:spcPct val="125000"/>
              </a:lnSpc>
              <a:buSzTx/>
              <a:defRPr/>
            </a:pPr>
            <a:r>
              <a:rPr lang="en-US" sz="2800" b="1" i="0" u="none" strike="noStrike">
                <a:solidFill>
                  <a:srgbClr val="165DFF"/>
                </a:solidFill>
                <a:latin typeface="Times New Roman" panose="02020603050405020304" charset="0"/>
                <a:ea typeface="Noto Sans SC" panose="020B0200000000000000" charset="-122"/>
                <a:cs typeface="Times New Roman" panose="02020603050405020304" charset="0"/>
                <a:sym typeface="Times New Roman" panose="02020603050405020304"/>
              </a:rPr>
              <a:t>05. Professional Behaviour</a:t>
            </a:r>
            <a:endParaRPr lang="en-US" sz="2800" b="1">
              <a:solidFill>
                <a:srgbClr val="165DFF"/>
              </a:solidFill>
              <a:latin typeface="Times New Roman" panose="02020603050405020304" charset="0"/>
              <a:ea typeface="Noto Sans SC" panose="020B0200000000000000" charset="-122"/>
              <a:cs typeface="Times New Roman" panose="02020603050405020304" charset="0"/>
            </a:endParaRPr>
          </a:p>
        </p:txBody>
      </p:sp>
      <p:sp>
        <p:nvSpPr>
          <p:cNvPr id="8" name="AutoShape 8"/>
          <p:cNvSpPr/>
          <p:nvPr/>
        </p:nvSpPr>
        <p:spPr>
          <a:xfrm>
            <a:off x="6489700" y="3302000"/>
            <a:ext cx="4673600" cy="228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17000"/>
              </a:lnSpc>
              <a:defRPr/>
            </a:pPr>
            <a:r>
              <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Comply with laws and regulations, and avoid conduct that could discredit the profession.</a:t>
            </a:r>
            <a:endParaRPr lang="en-US" sz="2400">
              <a:solidFill>
                <a:srgbClr val="374151"/>
              </a:solidFill>
              <a:latin typeface="Times New Roman" panose="02020603050405020304" charset="0"/>
              <a:ea typeface="Noto Sans SC" panose="020B0200000000000000" charset="-122"/>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xml:space="preserve">Principles 4-5: </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Applying the Concepts</a:t>
            </a:r>
            <a:endPar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custDataLst>
              <p:tags r:id="rId1"/>
            </p:custDataLst>
          </p:nvPr>
        </p:nvSpPr>
        <p:spPr>
          <a:xfrm>
            <a:off x="762000" y="1778000"/>
            <a:ext cx="5207000" cy="4318000"/>
          </a:xfrm>
          <a:prstGeom prst="roundRect">
            <a:avLst>
              <a:gd name="adj" fmla="val 3529"/>
            </a:avLst>
          </a:prstGeom>
          <a:solidFill>
            <a:srgbClr val="E0F2FE">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1025525" y="1899920"/>
            <a:ext cx="393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937"/>
                </a:solidFill>
                <a:latin typeface="Times New Roman" panose="02020603050405020304" charset="0"/>
                <a:ea typeface="Noto Sans SC" panose="020B0200000000000000" charset="-122"/>
                <a:cs typeface="Times New Roman" panose="02020603050405020304" charset="0"/>
                <a:sym typeface="Noto Sans SC" panose="020B0200000000000000" charset="-122"/>
              </a:rPr>
              <a:t>04. Confidentiality</a:t>
            </a:r>
            <a:r>
              <a:rPr lang="en-US" sz="2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r>
            <a:endParaRPr lang="en-US" sz="1100"/>
          </a:p>
        </p:txBody>
      </p:sp>
      <p:sp>
        <p:nvSpPr>
          <p:cNvPr id="6" name="AutoShape 6"/>
          <p:cNvSpPr/>
          <p:nvPr/>
        </p:nvSpPr>
        <p:spPr>
          <a:xfrm>
            <a:off x="1066800" y="3037840"/>
            <a:ext cx="45974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800"/>
              </a:spcBef>
              <a:defRPr/>
            </a:pPr>
            <a:r>
              <a:rPr lang="en-US" sz="2400" b="1" i="0" u="none" strike="noStrike">
                <a:solidFill>
                  <a:srgbClr val="165DFF"/>
                </a:solidFill>
                <a:latin typeface="Times New Roman" panose="02020603050405020304" charset="0"/>
                <a:ea typeface="Noto Sans SC" panose="020B0200000000000000" charset="-122"/>
                <a:cs typeface="Times New Roman" panose="02020603050405020304" charset="0"/>
                <a:sym typeface="Noto Sans SC" panose="020B0200000000000000" charset="-122"/>
              </a:rPr>
              <a:t xml:space="preserve">Application: </a:t>
            </a:r>
            <a:r>
              <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Do not disclose client or employer information without authority; never use confidential information for personal gain.</a:t>
            </a:r>
            <a:endParaRPr lang="en-US" sz="2400">
              <a:latin typeface="Times New Roman" panose="02020603050405020304" charset="0"/>
              <a:cs typeface="Times New Roman" panose="02020603050405020304" charset="0"/>
            </a:endParaRPr>
          </a:p>
          <a:p>
            <a:pPr marL="0" indent="0" algn="l">
              <a:lnSpc>
                <a:spcPct val="125000"/>
              </a:lnSpc>
              <a:spcBef>
                <a:spcPts val="1200"/>
              </a:spcBef>
            </a:pPr>
            <a:r>
              <a:rPr lang="en-US" sz="2400" b="1" i="0" u="none" strike="noStrike">
                <a:solidFill>
                  <a:srgbClr val="D97706"/>
                </a:solidFill>
                <a:latin typeface="Times New Roman" panose="02020603050405020304" charset="0"/>
                <a:ea typeface="Noto Sans SC" panose="020B0200000000000000" charset="-122"/>
                <a:cs typeface="Times New Roman" panose="02020603050405020304" charset="0"/>
                <a:sym typeface="Noto Sans SC" panose="020B0200000000000000" charset="-122"/>
              </a:rPr>
              <a:t xml:space="preserve">Exception: </a:t>
            </a:r>
            <a:r>
              <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Disclosure may be required by law, such as reporting suspected fraud to authorities.</a:t>
            </a:r>
            <a:endPar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a:p>
            <a:pPr marL="0" indent="0" algn="l">
              <a:lnSpc>
                <a:spcPct val="125000"/>
              </a:lnSpc>
              <a:spcBef>
                <a:spcPts val="1200"/>
              </a:spcBef>
            </a:pPr>
            <a:endPar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7" name="AutoShape 7"/>
          <p:cNvSpPr/>
          <p:nvPr>
            <p:custDataLst>
              <p:tags r:id="rId3"/>
            </p:custDataLst>
          </p:nvPr>
        </p:nvSpPr>
        <p:spPr>
          <a:xfrm>
            <a:off x="6223000" y="1778000"/>
            <a:ext cx="5207000" cy="4318000"/>
          </a:xfrm>
          <a:prstGeom prst="roundRect">
            <a:avLst>
              <a:gd name="adj" fmla="val 3529"/>
            </a:avLst>
          </a:prstGeom>
          <a:solidFill>
            <a:srgbClr val="E0F2FE">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4"/>
            </p:custDataLst>
          </p:nvPr>
        </p:nvSpPr>
        <p:spPr>
          <a:xfrm>
            <a:off x="6594475" y="1960880"/>
            <a:ext cx="393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937"/>
                </a:solidFill>
                <a:latin typeface="Times New Roman" panose="02020603050405020304" charset="0"/>
                <a:ea typeface="Noto Sans SC" panose="020B0200000000000000" charset="-122"/>
                <a:cs typeface="Times New Roman" panose="02020603050405020304" charset="0"/>
                <a:sym typeface="Noto Sans SC" panose="020B0200000000000000" charset="-122"/>
              </a:rPr>
              <a:t>05. Professional Behaviour</a:t>
            </a:r>
            <a:endParaRPr lang="en-US" sz="2400">
              <a:latin typeface="Times New Roman" panose="02020603050405020304" charset="0"/>
              <a:cs typeface="Times New Roman" panose="02020603050405020304" charset="0"/>
            </a:endParaRPr>
          </a:p>
        </p:txBody>
      </p:sp>
      <p:sp>
        <p:nvSpPr>
          <p:cNvPr id="10" name="AutoShape 10"/>
          <p:cNvSpPr/>
          <p:nvPr/>
        </p:nvSpPr>
        <p:spPr>
          <a:xfrm>
            <a:off x="6527800" y="2921000"/>
            <a:ext cx="45974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800"/>
              </a:spcBef>
              <a:defRPr/>
            </a:pPr>
            <a:r>
              <a:rPr lang="en-US" sz="2400" b="1" i="0" u="none" strike="noStrike">
                <a:solidFill>
                  <a:srgbClr val="165DFF"/>
                </a:solidFill>
                <a:latin typeface="Times New Roman" panose="02020603050405020304" charset="0"/>
                <a:ea typeface="Noto Sans SC" panose="020B0200000000000000" charset="-122"/>
                <a:cs typeface="Times New Roman" panose="02020603050405020304" charset="0"/>
                <a:sym typeface="Noto Sans SC" panose="020B0200000000000000" charset="-122"/>
              </a:rPr>
              <a:t xml:space="preserve">Application: </a:t>
            </a:r>
            <a:r>
              <a:rPr lang="en-US" sz="24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Follow all relevant laws and standards; avoid misleading claims or conduct that harms the profession's reputation.</a:t>
            </a:r>
            <a:endParaRPr lang="en-US" sz="2400">
              <a:solidFill>
                <a:srgbClr val="374151"/>
              </a:solidFill>
              <a:latin typeface="Times New Roman" panose="02020603050405020304" charset="0"/>
              <a:ea typeface="Noto Sans SC" panose="020B0200000000000000" charset="-122"/>
              <a:cs typeface="Times New Roman" panose="02020603050405020304" charset="0"/>
            </a:endParaRPr>
          </a:p>
          <a:p>
            <a:pPr marL="0" indent="0" algn="l">
              <a:lnSpc>
                <a:spcPct val="125000"/>
              </a:lnSpc>
              <a:spcBef>
                <a:spcPts val="2400"/>
              </a:spcBef>
            </a:pP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Case Study: Breach of Multiple Principles</a:t>
            </a:r>
            <a:endParaRPr lang="en-US" sz="1100"/>
          </a:p>
        </p:txBody>
      </p:sp>
      <p:sp>
        <p:nvSpPr>
          <p:cNvPr id="3" name="AutoShape 3"/>
          <p:cNvSpPr/>
          <p:nvPr/>
        </p:nvSpPr>
        <p:spPr>
          <a:xfrm>
            <a:off x="624205" y="1778000"/>
            <a:ext cx="3322955" cy="4318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841500"/>
            <a:ext cx="2260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The Scenario</a:t>
            </a:r>
            <a:endParaRPr lang="en-US" sz="1100"/>
          </a:p>
        </p:txBody>
      </p:sp>
      <p:sp>
        <p:nvSpPr>
          <p:cNvPr id="6" name="AutoShape 6"/>
          <p:cNvSpPr/>
          <p:nvPr/>
        </p:nvSpPr>
        <p:spPr>
          <a:xfrm>
            <a:off x="624205" y="2865755"/>
            <a:ext cx="3372485"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Sarah is asked to defer $2 million of expenses to smooth quarterly earnings. The CEO says jobs are at risk, but Sarah knows the adjustment would make the financial statements misleading.</a:t>
            </a:r>
            <a:endParaRPr lang="en-US" sz="1800">
              <a:latin typeface="Times New Roman" panose="02020603050405020304" charset="0"/>
              <a:cs typeface="Times New Roman" panose="02020603050405020304" charset="0"/>
            </a:endParaRPr>
          </a:p>
        </p:txBody>
      </p:sp>
      <p:sp>
        <p:nvSpPr>
          <p:cNvPr id="7" name="AutoShape 7"/>
          <p:cNvSpPr/>
          <p:nvPr/>
        </p:nvSpPr>
        <p:spPr>
          <a:xfrm>
            <a:off x="4445000" y="1778000"/>
            <a:ext cx="3302000" cy="4318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558665" y="1841500"/>
            <a:ext cx="256413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Principle Breaches</a:t>
            </a:r>
            <a:endParaRPr lang="en-US" sz="1100"/>
          </a:p>
        </p:txBody>
      </p:sp>
      <p:sp>
        <p:nvSpPr>
          <p:cNvPr id="10" name="AutoShape 10"/>
          <p:cNvSpPr/>
          <p:nvPr/>
        </p:nvSpPr>
        <p:spPr>
          <a:xfrm>
            <a:off x="4513580" y="2921000"/>
            <a:ext cx="3292475" cy="279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800"/>
              </a:spcBef>
              <a:defRPr/>
            </a:pPr>
            <a:r>
              <a:rPr lang="en-US" sz="1800" b="1" i="0" u="none" strike="noStrike">
                <a:solidFill>
                  <a:srgbClr val="1F2937"/>
                </a:solidFill>
                <a:latin typeface="Times New Roman" panose="02020603050405020304" charset="0"/>
                <a:ea typeface="Noto Sans SC" panose="020B0200000000000000" charset="-122"/>
                <a:cs typeface="Times New Roman" panose="02020603050405020304" charset="0"/>
                <a:sym typeface="Noto Sans SC" panose="020B0200000000000000" charset="-122"/>
              </a:rPr>
              <a:t xml:space="preserve">1. Integrity: </a:t>
            </a: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Supports misleading reporting.</a:t>
            </a:r>
            <a:endParaRPr lang="en-US" sz="1800">
              <a:latin typeface="Times New Roman" panose="02020603050405020304" charset="0"/>
              <a:cs typeface="Times New Roman" panose="02020603050405020304" charset="0"/>
            </a:endParaRPr>
          </a:p>
          <a:p>
            <a:pPr marL="0" indent="0" algn="l">
              <a:lnSpc>
                <a:spcPct val="117000"/>
              </a:lnSpc>
              <a:spcBef>
                <a:spcPts val="1200"/>
              </a:spcBef>
            </a:pPr>
            <a:r>
              <a:rPr lang="en-US" sz="1800" b="1" i="0" u="none" strike="noStrike">
                <a:solidFill>
                  <a:srgbClr val="1F2937"/>
                </a:solidFill>
                <a:latin typeface="Times New Roman" panose="02020603050405020304" charset="0"/>
                <a:ea typeface="Noto Sans SC" panose="020B0200000000000000" charset="-122"/>
                <a:cs typeface="Times New Roman" panose="02020603050405020304" charset="0"/>
                <a:sym typeface="Noto Sans SC" panose="020B0200000000000000" charset="-122"/>
              </a:rPr>
              <a:t xml:space="preserve">2. Objectivity: </a:t>
            </a: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CEO pressure overrides professional judgment.</a:t>
            </a:r>
            <a:endPar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a:p>
            <a:pPr marL="0" indent="0" algn="l">
              <a:lnSpc>
                <a:spcPct val="117000"/>
              </a:lnSpc>
              <a:spcBef>
                <a:spcPts val="1200"/>
              </a:spcBef>
            </a:pPr>
            <a:r>
              <a:rPr lang="en-US" sz="1800" b="1" i="0" u="none" strike="noStrike">
                <a:solidFill>
                  <a:srgbClr val="1F2937"/>
                </a:solidFill>
                <a:latin typeface="Times New Roman" panose="02020603050405020304" charset="0"/>
                <a:ea typeface="Noto Sans SC" panose="020B0200000000000000" charset="-122"/>
                <a:cs typeface="Times New Roman" panose="02020603050405020304" charset="0"/>
                <a:sym typeface="Noto Sans SC" panose="020B0200000000000000" charset="-122"/>
              </a:rPr>
              <a:t xml:space="preserve">3. Professional Behaviour: </a:t>
            </a: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Breaches accounting standards and corporate law.</a:t>
            </a:r>
            <a:endPar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11" name="AutoShape 11"/>
          <p:cNvSpPr/>
          <p:nvPr/>
        </p:nvSpPr>
        <p:spPr>
          <a:xfrm>
            <a:off x="8128000" y="1778000"/>
            <a:ext cx="3302000" cy="4318000"/>
          </a:xfrm>
          <a:prstGeom prst="roundRect">
            <a:avLst>
              <a:gd name="adj" fmla="val 4615"/>
            </a:avLst>
          </a:prstGeom>
          <a:solidFill>
            <a:srgbClr val="E0F2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315325" y="1841500"/>
            <a:ext cx="2446655"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Outcomes</a:t>
            </a:r>
            <a:endParaRPr lang="en-US" sz="1100"/>
          </a:p>
        </p:txBody>
      </p:sp>
      <p:sp>
        <p:nvSpPr>
          <p:cNvPr id="14" name="AutoShape 14"/>
          <p:cNvSpPr/>
          <p:nvPr/>
        </p:nvSpPr>
        <p:spPr>
          <a:xfrm>
            <a:off x="8195310" y="2776220"/>
            <a:ext cx="2981325" cy="279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ASIC investigation and financial restatement.</a:t>
            </a:r>
            <a:endParaRPr lang="en-US" sz="1800">
              <a:latin typeface="Times New Roman" panose="02020603050405020304" charset="0"/>
              <a:cs typeface="Times New Roman" panose="02020603050405020304" charset="0"/>
            </a:endParaRPr>
          </a:p>
          <a:p>
            <a:pPr marL="0" indent="0" algn="l">
              <a:lnSpc>
                <a:spcPct val="133000"/>
              </a:lnSpc>
            </a:pP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Loss of CPA membership and potential penalties.</a:t>
            </a:r>
            <a:endPar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a:p>
            <a:pPr marL="0" indent="0" algn="l">
              <a:lnSpc>
                <a:spcPct val="133000"/>
              </a:lnSpc>
            </a:pPr>
            <a:r>
              <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Shareholder claims and reputational damage.</a:t>
            </a:r>
            <a:endParaRPr lang="en-US" sz="18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Conclusion</a:t>
            </a:r>
            <a:endParaRPr lang="en-US" sz="1100"/>
          </a:p>
        </p:txBody>
      </p:sp>
      <p:sp>
        <p:nvSpPr>
          <p:cNvPr id="3" name="AutoShape 3"/>
          <p:cNvSpPr/>
          <p:nvPr>
            <p:custDataLst>
              <p:tags r:id="rId1"/>
            </p:custDataLst>
          </p:nvPr>
        </p:nvSpPr>
        <p:spPr>
          <a:xfrm>
            <a:off x="762000" y="1778000"/>
            <a:ext cx="3302000" cy="2159000"/>
          </a:xfrm>
          <a:prstGeom prst="roundRect">
            <a:avLst>
              <a:gd name="adj" fmla="val 7058"/>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762000" y="1778000"/>
            <a:ext cx="76200" cy="2159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2032000"/>
            <a:ext cx="311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1" i="0" u="none" strike="noStrike">
                <a:solidFill>
                  <a:srgbClr val="1E40AF"/>
                </a:solidFill>
                <a:latin typeface="Times New Roman" panose="02020603050405020304" charset="0"/>
                <a:ea typeface="Noto Sans SC" panose="020B0200000000000000" charset="-122"/>
                <a:cs typeface="Times New Roman" panose="02020603050405020304" charset="0"/>
                <a:sym typeface="Noto Sans SC" panose="020B0200000000000000" charset="-122"/>
              </a:rPr>
              <a:t>Foundation of Practice</a:t>
            </a:r>
            <a:endParaRPr lang="en-US" sz="2000">
              <a:latin typeface="Times New Roman" panose="02020603050405020304" charset="0"/>
              <a:cs typeface="Times New Roman" panose="02020603050405020304" charset="0"/>
            </a:endParaRPr>
          </a:p>
          <a:p>
            <a:pPr marL="0" indent="0" algn="l">
              <a:lnSpc>
                <a:spcPct val="108000"/>
              </a:lnSpc>
              <a:spcBef>
                <a:spcPts val="800"/>
              </a:spcBef>
            </a:pPr>
            <a:r>
              <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The five fundamental principles provide the ethical foundation for professional accounting practice.</a:t>
            </a:r>
            <a:endPar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6" name="AutoShape 6"/>
          <p:cNvSpPr/>
          <p:nvPr>
            <p:custDataLst>
              <p:tags r:id="rId4"/>
            </p:custDataLst>
          </p:nvPr>
        </p:nvSpPr>
        <p:spPr>
          <a:xfrm>
            <a:off x="4445000" y="1778000"/>
            <a:ext cx="3302000" cy="2159000"/>
          </a:xfrm>
          <a:prstGeom prst="roundRect">
            <a:avLst>
              <a:gd name="adj" fmla="val 7058"/>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custDataLst>
              <p:tags r:id="rId5"/>
            </p:custDataLst>
          </p:nvPr>
        </p:nvSpPr>
        <p:spPr>
          <a:xfrm>
            <a:off x="4445000" y="1778000"/>
            <a:ext cx="76200" cy="2159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4650740" y="1894205"/>
            <a:ext cx="279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1" i="0" u="none" strike="noStrike">
                <a:solidFill>
                  <a:srgbClr val="1E40AF"/>
                </a:solidFill>
                <a:latin typeface="Times New Roman" panose="02020603050405020304" charset="0"/>
                <a:ea typeface="Noto Sans SC" panose="020B0200000000000000" charset="-122"/>
                <a:cs typeface="Times New Roman" panose="02020603050405020304" charset="0"/>
                <a:sym typeface="Noto Sans SC" panose="020B0200000000000000" charset="-122"/>
              </a:rPr>
              <a:t>Public Trust &amp; Interest</a:t>
            </a:r>
            <a:endParaRPr lang="en-US" sz="2000">
              <a:latin typeface="Times New Roman" panose="02020603050405020304" charset="0"/>
              <a:cs typeface="Times New Roman" panose="02020603050405020304" charset="0"/>
            </a:endParaRPr>
          </a:p>
          <a:p>
            <a:pPr marL="0" indent="0" algn="l">
              <a:lnSpc>
                <a:spcPct val="108000"/>
              </a:lnSpc>
              <a:spcBef>
                <a:spcPts val="800"/>
              </a:spcBef>
            </a:pPr>
            <a:r>
              <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They protect the public interest by sustaining trust in accountants and financial information.</a:t>
            </a:r>
            <a:endPar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9" name="AutoShape 9"/>
          <p:cNvSpPr/>
          <p:nvPr>
            <p:custDataLst>
              <p:tags r:id="rId7"/>
            </p:custDataLst>
          </p:nvPr>
        </p:nvSpPr>
        <p:spPr>
          <a:xfrm>
            <a:off x="8128000" y="1778000"/>
            <a:ext cx="3302000" cy="2159000"/>
          </a:xfrm>
          <a:prstGeom prst="roundRect">
            <a:avLst>
              <a:gd name="adj" fmla="val 7058"/>
            </a:avLst>
          </a:prstGeom>
          <a:solidFill>
            <a:srgbClr val="E0F2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8128000" y="1778000"/>
            <a:ext cx="76200" cy="2159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9"/>
            </p:custDataLst>
          </p:nvPr>
        </p:nvSpPr>
        <p:spPr>
          <a:xfrm>
            <a:off x="8318500" y="1968500"/>
            <a:ext cx="311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1" i="0" u="none" strike="noStrike">
                <a:solidFill>
                  <a:srgbClr val="1E40AF"/>
                </a:solidFill>
                <a:latin typeface="Times New Roman" panose="02020603050405020304" charset="0"/>
                <a:ea typeface="Noto Sans SC" panose="020B0200000000000000" charset="-122"/>
                <a:cs typeface="Times New Roman" panose="02020603050405020304" charset="0"/>
                <a:sym typeface="Noto Sans SC" panose="020B0200000000000000" charset="-122"/>
              </a:rPr>
              <a:t>Framework Application</a:t>
            </a:r>
            <a:endParaRPr lang="en-US" sz="2000">
              <a:latin typeface="Times New Roman" panose="02020603050405020304" charset="0"/>
              <a:cs typeface="Times New Roman" panose="02020603050405020304" charset="0"/>
            </a:endParaRPr>
          </a:p>
          <a:p>
            <a:pPr marL="0" indent="0" algn="l">
              <a:lnSpc>
                <a:spcPct val="108000"/>
              </a:lnSpc>
              <a:spcBef>
                <a:spcPts val="800"/>
              </a:spcBef>
            </a:pPr>
            <a:r>
              <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rPr>
              <a:t>Accountants should use the conceptual framework to identify, evaluate, and address threats to ethical conduct.</a:t>
            </a:r>
            <a:endParaRPr lang="en-US" sz="2000" b="0" i="0" u="none" strike="noStrike">
              <a:solidFill>
                <a:srgbClr val="37415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12" name="AutoShape 12"/>
          <p:cNvSpPr/>
          <p:nvPr/>
        </p:nvSpPr>
        <p:spPr>
          <a:xfrm>
            <a:off x="347980" y="4318000"/>
            <a:ext cx="11496040" cy="2102485"/>
          </a:xfrm>
          <a:prstGeom prst="roundRect">
            <a:avLst>
              <a:gd name="adj" fmla="val 13333"/>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270000" y="487426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FFFFFF"/>
                </a:solidFill>
                <a:latin typeface="Times New Roman" panose="02020603050405020304" charset="0"/>
                <a:ea typeface="Noto Sans SC" panose="020B0200000000000000" charset="-122"/>
                <a:cs typeface="Times New Roman" panose="02020603050405020304" charset="0"/>
                <a:sym typeface="Noto Sans SC" panose="020B0200000000000000" charset="-122"/>
              </a:rPr>
              <a:t>Ethical behaviour is not optional; it is a non-negotiable professional obligation.</a:t>
            </a:r>
            <a:endParaRPr lang="en-US" sz="2800">
              <a:latin typeface="Times New Roman" panose="02020603050405020304" charset="0"/>
              <a:cs typeface="Times New Roman" panose="02020603050405020304" charset="0"/>
            </a:endParaRPr>
          </a:p>
        </p:txBody>
      </p:sp>
      <p:sp>
        <p:nvSpPr>
          <p:cNvPr id="14" name="AutoShape 14"/>
          <p:cNvSpPr/>
          <p:nvPr/>
        </p:nvSpPr>
        <p:spPr>
          <a:xfrm>
            <a:off x="0" y="57785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62255" y="360045"/>
            <a:ext cx="11701145" cy="6127115"/>
          </a:xfrm>
          <a:prstGeom prst="rect">
            <a:avLst/>
          </a:prstGeom>
          <a:noFill/>
        </p:spPr>
        <p:txBody>
          <a:bodyPr wrap="square" rtlCol="0">
            <a:noAutofit/>
          </a:bodyPr>
          <a:p>
            <a:r>
              <a:rPr lang="en-US" altLang="zh-CN" sz="4000" b="1">
                <a:latin typeface="Times New Roman" panose="02020603050405020304" charset="0"/>
                <a:cs typeface="Times New Roman" panose="02020603050405020304" charset="0"/>
              </a:rPr>
              <a:t>References</a:t>
            </a:r>
            <a:r>
              <a:rPr lang="zh-CN" altLang="en-US" sz="4000" b="1">
                <a:latin typeface="Times New Roman" panose="02020603050405020304" charset="0"/>
                <a:ea typeface="宋体" panose="02010600030101010101" pitchFamily="2" charset="-122"/>
                <a:cs typeface="Times New Roman" panose="02020603050405020304" charset="0"/>
              </a:rPr>
              <a:t/>
            </a:r>
            <a:endParaRPr lang="zh-CN" altLang="en-US" sz="4000" b="1">
              <a:latin typeface="Times New Roman" panose="02020603050405020304" charset="0"/>
              <a:ea typeface="宋体" panose="02010600030101010101" pitchFamily="2" charset="-122"/>
              <a:cs typeface="Times New Roman" panose="02020603050405020304" charset="0"/>
            </a:endParaRPr>
          </a:p>
          <a:p>
            <a:endParaRPr lang="zh-CN" altLang="en-US" sz="4000" b="1">
              <a:latin typeface="Times New Roman" panose="02020603050405020304" charset="0"/>
              <a:ea typeface="宋体" panose="02010600030101010101" pitchFamily="2" charset="-122"/>
              <a:cs typeface="Times New Roman" panose="02020603050405020304" charset="0"/>
            </a:endParaRPr>
          </a:p>
          <a:p>
            <a:pPr marL="457200" indent="-457200" eaLnBrk="1" fontAlgn="auto" latinLnBrk="0" hangingPunct="1"/>
            <a:r>
              <a:rPr lang="en-US" altLang="zh-CN" sz="2800">
                <a:latin typeface="Times New Roman" panose="02020603050405020304" charset="0"/>
                <a:ea typeface="宋体" panose="02010600030101010101" pitchFamily="2" charset="-122"/>
                <a:cs typeface="Times New Roman" panose="02020603050405020304" charset="0"/>
              </a:rPr>
              <a:t>Accounting Professional &amp; Ethical Standards Board. (2018). APES 110 Code of ethics for professional accountants (including independence standards). https://www.apesb.edu.au/standards/apes-110-code-of-ethics/</a:t>
            </a:r>
            <a:endParaRPr lang="en-US" altLang="zh-CN" sz="2800">
              <a:latin typeface="Times New Roman" panose="02020603050405020304" charset="0"/>
              <a:ea typeface="宋体" panose="02010600030101010101" pitchFamily="2" charset="-122"/>
              <a:cs typeface="Times New Roman" panose="02020603050405020304" charset="0"/>
            </a:endParaRPr>
          </a:p>
          <a:p>
            <a:pPr marL="457200" indent="-457200" eaLnBrk="1" fontAlgn="auto" latinLnBrk="0" hangingPunct="1"/>
            <a:endParaRPr lang="en-US" altLang="zh-CN" sz="2800">
              <a:latin typeface="Times New Roman" panose="02020603050405020304" charset="0"/>
              <a:ea typeface="宋体" panose="02010600030101010101" pitchFamily="2" charset="-122"/>
              <a:cs typeface="Times New Roman" panose="02020603050405020304" charset="0"/>
            </a:endParaRPr>
          </a:p>
          <a:p>
            <a:pPr marL="457200" indent="-457200" eaLnBrk="1" fontAlgn="auto" latinLnBrk="0" hangingPunct="1"/>
            <a:r>
              <a:rPr lang="en-US" altLang="zh-CN" sz="2800">
                <a:latin typeface="Times New Roman" panose="02020603050405020304" charset="0"/>
                <a:ea typeface="宋体" panose="02010600030101010101" pitchFamily="2" charset="-122"/>
                <a:cs typeface="Times New Roman" panose="02020603050405020304" charset="0"/>
              </a:rPr>
              <a:t>Auditing and Assurance Standards Board. (2019). ASA 102 Compliance with ethical requirements when performing audits, reviews and other assurance engagements. https://www.auasb.gov.au/standards/auditing-standards/asa-102/</a:t>
            </a:r>
            <a:endParaRPr lang="en-US" altLang="zh-CN" sz="2800">
              <a:latin typeface="Times New Roman" panose="02020603050405020304" charset="0"/>
              <a:ea typeface="宋体" panose="02010600030101010101" pitchFamily="2" charset="-122"/>
              <a:cs typeface="Times New Roman" panose="02020603050405020304" charset="0"/>
            </a:endParaRPr>
          </a:p>
          <a:p>
            <a:endParaRPr lang="en-US" altLang="zh-CN" sz="280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8E4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0">
            <a:gsLst>
              <a:gs pos="0">
                <a:srgbClr val="B6CDF8">
                  <a:alpha val="100000"/>
                </a:srgbClr>
              </a:gs>
              <a:gs pos="100000">
                <a:srgbClr val="FFFFFF">
                  <a:alpha val="100000"/>
                </a:srgbClr>
              </a:gs>
            </a:gsLst>
            <a:lin ang="180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10800000" flipV="1">
            <a:off x="8610600" y="1257300"/>
            <a:ext cx="1765300" cy="1765300"/>
          </a:xfrm>
          <a:prstGeom prst="ellipse">
            <a:avLst/>
          </a:prstGeom>
          <a:gradFill rotWithShape="0">
            <a:gsLst>
              <a:gs pos="0">
                <a:srgbClr val="FFFFFF">
                  <a:alpha val="0"/>
                </a:srgbClr>
              </a:gs>
              <a:gs pos="100000">
                <a:srgbClr val="3A76E9">
                  <a:alpha val="17000"/>
                </a:srgbClr>
              </a:gs>
            </a:gsLst>
            <a:lin ang="207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rot="-2700000" flipV="1">
            <a:off x="1562100" y="2209800"/>
            <a:ext cx="2032000" cy="3835400"/>
          </a:xfrm>
          <a:prstGeom prst="round2SameRect">
            <a:avLst>
              <a:gd name="adj1" fmla="val 49936"/>
              <a:gd name="adj2" fmla="val 0"/>
            </a:avLst>
          </a:prstGeom>
          <a:gradFill rotWithShape="1">
            <a:gsLst>
              <a:gs pos="0">
                <a:srgbClr val="FFFFFF">
                  <a:alpha val="100000"/>
                </a:srgbClr>
              </a:gs>
              <a:gs pos="87000">
                <a:srgbClr val="FFFFFF">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rot="8100000" flipV="1">
            <a:off x="1866900" y="1003300"/>
            <a:ext cx="2032000" cy="3771900"/>
          </a:xfrm>
          <a:prstGeom prst="round2SameRect">
            <a:avLst>
              <a:gd name="adj1" fmla="val 49936"/>
              <a:gd name="adj2" fmla="val 0"/>
            </a:avLst>
          </a:prstGeom>
          <a:gradFill rotWithShape="1">
            <a:gsLst>
              <a:gs pos="0">
                <a:srgbClr val="FFFFFF">
                  <a:alpha val="0"/>
                </a:srgbClr>
              </a:gs>
              <a:gs pos="56000">
                <a:srgbClr val="3A76E9">
                  <a:alpha val="34000"/>
                </a:srgbClr>
              </a:gs>
              <a:gs pos="98000">
                <a:srgbClr val="3A76E9">
                  <a:alpha val="55000"/>
                </a:srgbClr>
              </a:gs>
            </a:gsLst>
            <a:lin ang="16200000"/>
          </a:gra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4521200" y="1651000"/>
            <a:ext cx="6731000" cy="1016000"/>
          </a:xfrm>
          <a:prstGeom prst="rect">
            <a:avLst/>
          </a:prstGeom>
          <a:noFill/>
          <a:ln w="12700" cap="flat" cmpd="sng">
            <a:noFill/>
            <a:prstDash val="solid"/>
            <a:round/>
          </a:ln>
        </p:spPr>
        <p:txBody>
          <a:bodyPr vert="horz" wrap="square" lIns="0" tIns="0" rIns="0" bIns="0" rtlCol="0" anchor="b" anchorCtr="0"/>
          <a:lstStyle/>
          <a:p>
            <a:pPr marL="0" indent="0" algn="r">
              <a:lnSpc>
                <a:spcPct val="100000"/>
              </a:lnSpc>
              <a:spcBef>
                <a:spcPts val="600"/>
              </a:spcBef>
              <a:defRPr/>
            </a:pPr>
            <a:endParaRPr lang="en-US" sz="1100"/>
          </a:p>
        </p:txBody>
      </p:sp>
      <p:sp>
        <p:nvSpPr>
          <p:cNvPr id="7" name="AutoShape 7"/>
          <p:cNvSpPr/>
          <p:nvPr/>
        </p:nvSpPr>
        <p:spPr>
          <a:xfrm>
            <a:off x="2872740" y="2437765"/>
            <a:ext cx="10942955" cy="2858135"/>
          </a:xfrm>
          <a:prstGeom prst="rect">
            <a:avLst/>
          </a:prstGeom>
          <a:noFill/>
          <a:ln w="12700" cap="flat" cmpd="sng">
            <a:noFill/>
            <a:prstDash val="solid"/>
            <a:round/>
          </a:ln>
        </p:spPr>
        <p:txBody>
          <a:bodyPr vert="horz" wrap="square" lIns="0" tIns="0" rIns="0" bIns="0" rtlCol="0" anchor="t" anchorCtr="0"/>
          <a:lstStyle/>
          <a:p>
            <a:pPr marL="0" indent="0" algn="l">
              <a:lnSpc>
                <a:spcPct val="92000"/>
              </a:lnSpc>
              <a:defRPr/>
            </a:pPr>
            <a:r>
              <a:rPr lang="en-US" sz="8000" b="1">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rPr>
              <a:t>Thank You</a:t>
            </a:r>
            <a:endParaRPr lang="en-US" sz="8000" b="1">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a:p>
            <a:pPr marL="0" indent="0" algn="l">
              <a:lnSpc>
                <a:spcPct val="92000"/>
              </a:lnSpc>
              <a:defRPr/>
            </a:pPr>
            <a:r>
              <a:rPr lang="en-US" sz="8000" b="1">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rPr>
              <a:t>Questions?</a:t>
            </a:r>
            <a:endParaRPr lang="en-US" sz="8000" b="1">
              <a:solidFill>
                <a:srgbClr val="3A76E9"/>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285.45,&quot;left&quot;:54,&quot;top&quot;:194.55,&quot;width&quot;:871.7}"/>
</p:tagLst>
</file>

<file path=ppt/tags/tag2.xml><?xml version="1.0" encoding="utf-8"?>
<p:tagLst xmlns:p="http://schemas.openxmlformats.org/presentationml/2006/main">
  <p:tag name="KSO_WM_DIAGRAM_VIRTUALLY_FRAME" val="{&quot;height&quot;:285.45,&quot;left&quot;:54,&quot;top&quot;:194.55,&quot;width&quot;:871.7}"/>
</p:tagLst>
</file>

<file path=ppt/tags/tag3.xml><?xml version="1.0" encoding="utf-8"?>
<p:tagLst xmlns:p="http://schemas.openxmlformats.org/presentationml/2006/main">
  <p:tag name="KSO_WM_DIAGRAM_VIRTUALLY_FRAME" val="{&quot;height&quot;:285.45,&quot;left&quot;:54,&quot;top&quot;:194.55,&quot;width&quot;:871.7}"/>
</p:tagLst>
</file>

<file path=ppt/tags/tag4.xml><?xml version="1.0" encoding="utf-8"?>
<p:tagLst xmlns:p="http://schemas.openxmlformats.org/presentationml/2006/main">
  <p:tag name="KSO_WM_DIAGRAM_VIRTUALLY_FRAME" val="{&quot;height&quot;:285.45,&quot;left&quot;:54,&quot;top&quot;:194.55,&quot;width&quot;:871.7}"/>
</p:tagLst>
</file>

<file path=ppt/tags/tag5.xml><?xml version="1.0" encoding="utf-8"?>
<p:tagLst xmlns:p="http://schemas.openxmlformats.org/presentationml/2006/main">
  <p:tag name="KSO_WM_DIAGRAM_VIRTUALLY_FRAME" val="{&quot;height&quot;:285.45,&quot;left&quot;:54,&quot;top&quot;:194.55,&quot;width&quot;:871.7}"/>
</p:tagLst>
</file>

<file path=ppt/tags/tag6.xml><?xml version="1.0" encoding="utf-8"?>
<p:tagLst xmlns:p="http://schemas.openxmlformats.org/presentationml/2006/main">
  <p:tag name="KSO_WM_DIAGRAM_VIRTUALLY_FRAME" val="{&quot;height&quot;:285.45,&quot;left&quot;:54,&quot;top&quot;:194.55,&quot;width&quot;:871.7}"/>
</p:tagLst>
</file>

<file path=ppt/tags/tag7.xml><?xml version="1.0" encoding="utf-8"?>
<p:tagLst xmlns:p="http://schemas.openxmlformats.org/presentationml/2006/main">
  <p:tag name="KSO_WM_DIAGRAM_VIRTUALLY_FRAME" val="{&quot;height&quot;:285.45,&quot;left&quot;:54,&quot;top&quot;:194.55,&quot;width&quot;:871.7}"/>
</p:tagLst>
</file>

<file path=ppt/tags/tag8.xml><?xml version="1.0" encoding="utf-8"?>
<p:tagLst xmlns:p="http://schemas.openxmlformats.org/presentationml/2006/main">
  <p:tag name="KSO_WM_DIAGRAM_VIRTUALLY_FRAME" val="{&quot;height&quot;:285.45,&quot;left&quot;:54,&quot;top&quot;:194.55,&quot;width&quot;:871.7}"/>
</p:tagLst>
</file>

<file path=ppt/tags/tag9.xml><?xml version="1.0" encoding="utf-8"?>
<p:tagLst xmlns:p="http://schemas.openxmlformats.org/presentationml/2006/main">
  <p:tag name="KSO_WM_DIAGRAM_VIRTUALLY_FRAME" val="{&quot;height&quot;:285.45,&quot;left&quot;:54,&quot;top&quot;:194.55,&quot;width&quot;:871.7}"/>
</p:tagLst>
</file>

<file path=ppt/tags/tag10.xml><?xml version="1.0" encoding="utf-8"?>
<p:tagLst xmlns:p="http://schemas.openxmlformats.org/presentationml/2006/main">
  <p:tag name="KSO_WM_DIAGRAM_VIRTUALLY_FRAME" val="{&quot;height&quot;:350,&quot;left&quot;:60,&quot;top&quot;:140,&quot;width&quot;:875.05}"/>
</p:tagLst>
</file>

<file path=ppt/tags/tag11.xml><?xml version="1.0" encoding="utf-8"?>
<p:tagLst xmlns:p="http://schemas.openxmlformats.org/presentationml/2006/main">
  <p:tag name="KSO_WM_DIAGRAM_VIRTUALLY_FRAME" val="{&quot;height&quot;:350,&quot;left&quot;:60,&quot;top&quot;:140,&quot;width&quot;:875.05}"/>
</p:tagLst>
</file>

<file path=ppt/tags/tag12.xml><?xml version="1.0" encoding="utf-8"?>
<p:tagLst xmlns:p="http://schemas.openxmlformats.org/presentationml/2006/main">
  <p:tag name="KSO_WM_DIAGRAM_VIRTUALLY_FRAME" val="{&quot;height&quot;:350,&quot;left&quot;:60,&quot;top&quot;:140,&quot;width&quot;:875.05}"/>
</p:tagLst>
</file>

<file path=ppt/tags/tag13.xml><?xml version="1.0" encoding="utf-8"?>
<p:tagLst xmlns:p="http://schemas.openxmlformats.org/presentationml/2006/main">
  <p:tag name="KSO_WM_DIAGRAM_VIRTUALLY_FRAME" val="{&quot;height&quot;:350,&quot;left&quot;:60,&quot;top&quot;:140,&quot;width&quot;:875.05}"/>
</p:tagLst>
</file>

<file path=ppt/tags/tag14.xml><?xml version="1.0" encoding="utf-8"?>
<p:tagLst xmlns:p="http://schemas.openxmlformats.org/presentationml/2006/main">
  <p:tag name="KSO_WM_DIAGRAM_VIRTUALLY_FRAME" val="{&quot;height&quot;:350,&quot;left&quot;:60,&quot;top&quot;:140,&quot;width&quot;:875.05}"/>
</p:tagLst>
</file>

<file path=ppt/tags/tag15.xml><?xml version="1.0" encoding="utf-8"?>
<p:tagLst xmlns:p="http://schemas.openxmlformats.org/presentationml/2006/main">
  <p:tag name="KSO_WM_DIAGRAM_VIRTUALLY_FRAME" val="{&quot;height&quot;:350,&quot;left&quot;:60,&quot;top&quot;:140,&quot;width&quot;:875.05}"/>
</p:tagLst>
</file>

<file path=ppt/tags/tag16.xml><?xml version="1.0" encoding="utf-8"?>
<p:tagLst xmlns:p="http://schemas.openxmlformats.org/presentationml/2006/main">
  <p:tag name="KSO_WM_DIAGRAM_VIRTUALLY_FRAME" val="{&quot;height&quot;:350,&quot;left&quot;:60,&quot;top&quot;:140,&quot;width&quot;:875.05}"/>
</p:tagLst>
</file>

<file path=ppt/tags/tag17.xml><?xml version="1.0" encoding="utf-8"?>
<p:tagLst xmlns:p="http://schemas.openxmlformats.org/presentationml/2006/main">
  <p:tag name="KSO_WM_DIAGRAM_VIRTUALLY_FRAME" val="{&quot;height&quot;:350,&quot;left&quot;:60,&quot;top&quot;:140,&quot;width&quot;:875.05}"/>
</p:tagLst>
</file>

<file path=ppt/tags/tag18.xml><?xml version="1.0" encoding="utf-8"?>
<p:tagLst xmlns:p="http://schemas.openxmlformats.org/presentationml/2006/main">
  <p:tag name="KSO_WM_DIAGRAM_VIRTUALLY_FRAME" val="{&quot;height&quot;:350,&quot;left&quot;:60,&quot;top&quot;:140,&quot;width&quot;:875.05}"/>
</p:tagLst>
</file>

<file path=ppt/tags/tag19.xml><?xml version="1.0" encoding="utf-8"?>
<p:tagLst xmlns:p="http://schemas.openxmlformats.org/presentationml/2006/main">
  <p:tag name="KSO_WM_DIAGRAM_VIRTUALLY_FRAME" val="{&quot;height&quot;:350,&quot;left&quot;:60,&quot;top&quot;:140,&quot;width&quot;:875.05}"/>
</p:tagLst>
</file>

<file path=ppt/tags/tag20.xml><?xml version="1.0" encoding="utf-8"?>
<p:tagLst xmlns:p="http://schemas.openxmlformats.org/presentationml/2006/main">
  <p:tag name="KSO_WM_DIAGRAM_VIRTUALLY_FRAME" val="{&quot;height&quot;:350,&quot;left&quot;:60,&quot;top&quot;:140,&quot;width&quot;:875.05}"/>
</p:tagLst>
</file>

<file path=ppt/tags/tag21.xml><?xml version="1.0" encoding="utf-8"?>
<p:tagLst xmlns:p="http://schemas.openxmlformats.org/presentationml/2006/main">
  <p:tag name="KSO_WM_DIAGRAM_VIRTUALLY_FRAME" val="{&quot;height&quot;:350,&quot;left&quot;:60,&quot;top&quot;:140,&quot;width&quot;:875.05}"/>
</p:tagLst>
</file>

<file path=ppt/tags/tag22.xml><?xml version="1.0" encoding="utf-8"?>
<p:tagLst xmlns:p="http://schemas.openxmlformats.org/presentationml/2006/main">
  <p:tag name="KSO_WM_DIAGRAM_VIRTUALLY_FRAME" val="{&quot;height&quot;:340,&quot;left&quot;:-7.4,&quot;top&quot;:140,&quot;width&quot;:907.4}"/>
</p:tagLst>
</file>

<file path=ppt/tags/tag23.xml><?xml version="1.0" encoding="utf-8"?>
<p:tagLst xmlns:p="http://schemas.openxmlformats.org/presentationml/2006/main">
  <p:tag name="KSO_WM_DIAGRAM_VIRTUALLY_FRAME" val="{&quot;height&quot;:340,&quot;left&quot;:-7.4,&quot;top&quot;:140,&quot;width&quot;:907.4}"/>
</p:tagLst>
</file>

<file path=ppt/tags/tag24.xml><?xml version="1.0" encoding="utf-8"?>
<p:tagLst xmlns:p="http://schemas.openxmlformats.org/presentationml/2006/main">
  <p:tag name="KSO_WM_DIAGRAM_VIRTUALLY_FRAME" val="{&quot;height&quot;:340,&quot;left&quot;:-7.4,&quot;top&quot;:140,&quot;width&quot;:907.4}"/>
</p:tagLst>
</file>

<file path=ppt/tags/tag25.xml><?xml version="1.0" encoding="utf-8"?>
<p:tagLst xmlns:p="http://schemas.openxmlformats.org/presentationml/2006/main">
  <p:tag name="KSO_WM_DIAGRAM_VIRTUALLY_FRAME" val="{&quot;height&quot;:340,&quot;left&quot;:-7.4,&quot;top&quot;:140,&quot;width&quot;:907.4}"/>
</p:tagLst>
</file>

<file path=ppt/tags/tag26.xml><?xml version="1.0" encoding="utf-8"?>
<p:tagLst xmlns:p="http://schemas.openxmlformats.org/presentationml/2006/main">
  <p:tag name="KSO_WM_DIAGRAM_VIRTUALLY_FRAME" val="{&quot;height&quot;:170,&quot;left&quot;:60,&quot;top&quot;:140,&quot;width&quot;:845}"/>
</p:tagLst>
</file>

<file path=ppt/tags/tag27.xml><?xml version="1.0" encoding="utf-8"?>
<p:tagLst xmlns:p="http://schemas.openxmlformats.org/presentationml/2006/main">
  <p:tag name="KSO_WM_DIAGRAM_VIRTUALLY_FRAME" val="{&quot;height&quot;:170,&quot;left&quot;:60,&quot;top&quot;:140,&quot;width&quot;:845}"/>
</p:tagLst>
</file>

<file path=ppt/tags/tag28.xml><?xml version="1.0" encoding="utf-8"?>
<p:tagLst xmlns:p="http://schemas.openxmlformats.org/presentationml/2006/main">
  <p:tag name="KSO_WM_DIAGRAM_VIRTUALLY_FRAME" val="{&quot;height&quot;:170,&quot;left&quot;:60,&quot;top&quot;:140,&quot;width&quot;:845}"/>
</p:tagLst>
</file>

<file path=ppt/tags/tag29.xml><?xml version="1.0" encoding="utf-8"?>
<p:tagLst xmlns:p="http://schemas.openxmlformats.org/presentationml/2006/main">
  <p:tag name="KSO_WM_DIAGRAM_VIRTUALLY_FRAME" val="{&quot;height&quot;:170,&quot;left&quot;:60,&quot;top&quot;:140,&quot;width&quot;:845}"/>
</p:tagLst>
</file>

<file path=ppt/tags/tag30.xml><?xml version="1.0" encoding="utf-8"?>
<p:tagLst xmlns:p="http://schemas.openxmlformats.org/presentationml/2006/main">
  <p:tag name="KSO_WM_DIAGRAM_VIRTUALLY_FRAME" val="{&quot;height&quot;:170,&quot;left&quot;:60,&quot;top&quot;:140,&quot;width&quot;:845}"/>
</p:tagLst>
</file>

<file path=ppt/tags/tag31.xml><?xml version="1.0" encoding="utf-8"?>
<p:tagLst xmlns:p="http://schemas.openxmlformats.org/presentationml/2006/main">
  <p:tag name="KSO_WM_DIAGRAM_VIRTUALLY_FRAME" val="{&quot;height&quot;:170,&quot;left&quot;:60,&quot;top&quot;:140,&quot;width&quot;:845}"/>
</p:tagLst>
</file>

<file path=ppt/tags/tag32.xml><?xml version="1.0" encoding="utf-8"?>
<p:tagLst xmlns:p="http://schemas.openxmlformats.org/presentationml/2006/main">
  <p:tag name="KSO_WM_DIAGRAM_VIRTUALLY_FRAME" val="{&quot;height&quot;:170,&quot;left&quot;:60,&quot;top&quot;:140,&quot;width&quot;:845}"/>
</p:tagLst>
</file>

<file path=ppt/tags/tag33.xml><?xml version="1.0" encoding="utf-8"?>
<p:tagLst xmlns:p="http://schemas.openxmlformats.org/presentationml/2006/main">
  <p:tag name="KSO_WM_DIAGRAM_VIRTUALLY_FRAME" val="{&quot;height&quot;:170,&quot;left&quot;:60,&quot;top&quot;:140,&quot;width&quot;:845}"/>
</p:tagLst>
</file>

<file path=ppt/tags/tag34.xml><?xml version="1.0" encoding="utf-8"?>
<p:tagLst xmlns:p="http://schemas.openxmlformats.org/presentationml/2006/main">
  <p:tag name="KSO_WM_DIAGRAM_VIRTUALLY_FRAME" val="{&quot;height&quot;:170,&quot;left&quot;:60,&quot;top&quot;:140,&quot;width&quot;:84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3706</Words>
  <Application>WPS 演示</Application>
  <PresentationFormat/>
  <Paragraphs>110</Paragraphs>
  <Slides>10</Slides>
  <Notes>0</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10</vt:i4>
      </vt:variant>
    </vt:vector>
  </HeadingPairs>
  <TitlesOfParts>
    <vt:vector size="22" baseType="lpstr">
      <vt:lpstr>Arial</vt:lpstr>
      <vt:lpstr>宋体</vt:lpstr>
      <vt:lpstr>Wingdings</vt:lpstr>
      <vt:lpstr>Arial</vt:lpstr>
      <vt:lpstr>Times New Roman</vt:lpstr>
      <vt:lpstr>微软雅黑</vt:lpstr>
      <vt:lpstr>Noto Sans SC</vt:lpstr>
      <vt:lpstr>Times New Roman</vt:lpstr>
      <vt:lpstr>Arial Unicode MS</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胡世奇</cp:lastModifiedBy>
  <cp:revision>6</cp:revision>
  <dcterms:created xsi:type="dcterms:W3CDTF">2026-05-20T13:19:00Z</dcterms:created>
  <dcterms:modified xsi:type="dcterms:W3CDTF">2026-05-20T13:49:27Z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588B160F90724841B4B59FB4E4543A81_12</vt:lpwstr>
  </property>
</Properties>
</file>