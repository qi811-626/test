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70" r:id="rId7"/>
    <p:sldId id="267" r:id="rId8"/>
    <p:sldId id="259" r:id="rId9"/>
    <p:sldId id="269" r:id="rId10"/>
    <p:sldId id="260" r:id="rId11"/>
    <p:sldId id="261" r:id="rId12"/>
    <p:sldId id="262" r:id="rId13"/>
    <p:sldId id="263" r:id="rId14"/>
    <p:sldId id="265" r:id="rId1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4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4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 Today, I will be presenting on the APES 110 Code of Ethics for Professional Accountants, focusing on its five fundamental principles. This code is crucial for ensuring that accountants act in the public interest, and I will break down what these principles are and how they apply in practice.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we dive into the heart of APES 110: the five fundamental principles. Today we will focus on the first three: Integrity, Objectivity, and Professional Competence and Due Care. These are the bedrock of ethical behavior for all professional accountants.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look at the first three principles. Integrity means being honest and straightforward. For example, you must refuse to sign off on a report you know is misleading. Objectivity requires you to avoid conflicts of interest, like auditing a company where your family member is a senior executive. Finally, Professional Competence means staying skilled and only doing work you're qualified for, such as attending regular professional development training.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Continuing with the five fundamental principles, we have Confidentiality and Professional Behaviour. Confidentiality means protecting client information, while Professional Behaviour requires accountants to follow the law and uphold the reputation of their profession.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for the last two principles. Confidentiality means protecting sensitive information. You shouldn't share a client's private business details, like an upcoming merger, with anyone outside the professional relationship. Finally, Professional Behaviour means following the law and acting in a way that brings credit to the profession, such as avoiding misleading advertising about your services.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see these principles in action, let's look at a case study. Imagine Sarah, an accountant, is pressured by her CEO to manipulate the company's earnings. By complying, Sarah breaches Integrity by being associated with false information, Objectivity by letting intimidation cloud her judgment, and Professional Behaviour by breaking the law. The consequences are severe: loss of her professional license, fines, and legal trouble for the company.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conclusion, these five principles are the bedrock of ethical accounting. They ensure that accountants act in the public's best interest and uphold the trust placed in the profession. It's crucial for every accountant to understand and apply these principles daily.</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Remember, ethical behavior isn't a choice; it's a professional obligation. Thank you for your time. I'm happy to answer any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 Today, I will be presenting on the APES 110 Code of Ethics for Professional Accountants, focusing on its five fundamental principles. This code is crucial for ensuring that accountants act in the public interest, and I will break down what these principles are and how they apply in practice.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notesSlide" Target="../notesSlides/notesSlide3.xml"/><Relationship Id="rId13" Type="http://schemas.openxmlformats.org/officeDocument/2006/relationships/slideLayout" Target="../slideLayouts/slideLayout1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1" Type="http://schemas.openxmlformats.org/officeDocument/2006/relationships/notesSlide" Target="../notesSlides/notesSlide7.xml"/><Relationship Id="rId10" Type="http://schemas.openxmlformats.org/officeDocument/2006/relationships/slideLayout" Target="../slideLayouts/slideLayout12.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E4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0">
            <a:gsLst>
              <a:gs pos="0">
                <a:srgbClr val="B6CDF8">
                  <a:alpha val="100000"/>
                </a:srgbClr>
              </a:gs>
              <a:gs pos="100000">
                <a:srgbClr val="FFFFFF">
                  <a:alpha val="100000"/>
                </a:srgbClr>
              </a:gs>
            </a:gsLst>
            <a:lin ang="180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0800000" flipV="1">
            <a:off x="8610600" y="1257300"/>
            <a:ext cx="1765300" cy="1765300"/>
          </a:xfrm>
          <a:prstGeom prst="ellipse">
            <a:avLst/>
          </a:prstGeom>
          <a:gradFill rotWithShape="0">
            <a:gsLst>
              <a:gs pos="0">
                <a:srgbClr val="FFFFFF">
                  <a:alpha val="0"/>
                </a:srgbClr>
              </a:gs>
              <a:gs pos="100000">
                <a:srgbClr val="3A76E9">
                  <a:alpha val="17000"/>
                </a:srgbClr>
              </a:gs>
            </a:gsLst>
            <a:lin ang="207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2700000" flipV="1">
            <a:off x="1562100" y="2209800"/>
            <a:ext cx="2032000" cy="3835400"/>
          </a:xfrm>
          <a:prstGeom prst="round2SameRect">
            <a:avLst>
              <a:gd name="adj1" fmla="val 49936"/>
              <a:gd name="adj2" fmla="val 0"/>
            </a:avLst>
          </a:prstGeom>
          <a:gradFill rotWithShape="1">
            <a:gsLst>
              <a:gs pos="0">
                <a:srgbClr val="FFFFFF">
                  <a:alpha val="100000"/>
                </a:srgbClr>
              </a:gs>
              <a:gs pos="87000">
                <a:srgbClr val="FFFF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8100000" flipV="1">
            <a:off x="1866900" y="1003300"/>
            <a:ext cx="2032000" cy="3771900"/>
          </a:xfrm>
          <a:prstGeom prst="round2SameRect">
            <a:avLst>
              <a:gd name="adj1" fmla="val 49936"/>
              <a:gd name="adj2" fmla="val 0"/>
            </a:avLst>
          </a:prstGeom>
          <a:gradFill rotWithShape="1">
            <a:gsLst>
              <a:gs pos="0">
                <a:srgbClr val="FFFFFF">
                  <a:alpha val="0"/>
                </a:srgbClr>
              </a:gs>
              <a:gs pos="56000">
                <a:srgbClr val="3A76E9">
                  <a:alpha val="34000"/>
                </a:srgbClr>
              </a:gs>
              <a:gs pos="98000">
                <a:srgbClr val="3A76E9">
                  <a:alpha val="55000"/>
                </a:srgbClr>
              </a:gs>
            </a:gsLst>
            <a:lin ang="162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521200" y="1651000"/>
            <a:ext cx="6731000" cy="1016000"/>
          </a:xfrm>
          <a:prstGeom prst="rect">
            <a:avLst/>
          </a:prstGeom>
          <a:noFill/>
          <a:ln w="12700" cap="flat" cmpd="sng">
            <a:noFill/>
            <a:prstDash val="solid"/>
            <a:round/>
          </a:ln>
        </p:spPr>
        <p:txBody>
          <a:bodyPr vert="horz" wrap="square" lIns="0" tIns="0" rIns="0" bIns="0" rtlCol="0" anchor="b" anchorCtr="0"/>
          <a:lstStyle/>
          <a:p>
            <a:pPr marL="0" indent="0" algn="r">
              <a:lnSpc>
                <a:spcPct val="100000"/>
              </a:lnSpc>
              <a:spcBef>
                <a:spcPts val="600"/>
              </a:spcBef>
              <a:defRPr/>
            </a:pPr>
            <a:endParaRPr lang="en-US" sz="1100"/>
          </a:p>
        </p:txBody>
      </p:sp>
      <p:sp>
        <p:nvSpPr>
          <p:cNvPr id="7" name="AutoShape 7"/>
          <p:cNvSpPr/>
          <p:nvPr/>
        </p:nvSpPr>
        <p:spPr>
          <a:xfrm>
            <a:off x="3417570" y="996950"/>
            <a:ext cx="8589645" cy="22860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48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The 5 Fundamental Principles</a:t>
            </a:r>
            <a:endParaRPr lang="en-US" sz="4800">
              <a:latin typeface="Times New Roman" panose="02020603050405020304" charset="0"/>
              <a:cs typeface="Times New Roman" panose="02020603050405020304" charset="0"/>
            </a:endParaRPr>
          </a:p>
          <a:p>
            <a:pPr marL="0" indent="0" algn="l">
              <a:lnSpc>
                <a:spcPct val="92000"/>
              </a:lnSpc>
              <a:defRPr/>
            </a:pPr>
            <a:r>
              <a:rPr lang="en-US" sz="4800" b="1" i="0" u="none" strike="noStrike">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of Ethics for Professional Accountants</a:t>
            </a:r>
            <a:endParaRPr lang="en-US" sz="4800" b="1" i="0" u="none" strike="noStrike">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8" name="AutoShape 8"/>
          <p:cNvSpPr/>
          <p:nvPr/>
        </p:nvSpPr>
        <p:spPr>
          <a:xfrm>
            <a:off x="6882130" y="4298315"/>
            <a:ext cx="4370070" cy="1480185"/>
          </a:xfrm>
          <a:prstGeom prst="roundRect">
            <a:avLst>
              <a:gd name="adj" fmla="val 24615"/>
            </a:avLst>
          </a:prstGeom>
          <a:solidFill>
            <a:srgbClr val="3A76E9">
              <a:alpha val="100000"/>
            </a:srgbClr>
          </a:solidFill>
          <a:ln w="25400" cap="flat" cmpd="sng">
            <a:noFill/>
            <a:prstDash val="solid"/>
            <a:round/>
          </a:ln>
        </p:spPr>
        <p:txBody>
          <a:bodyPr vert="horz" wrap="square" lIns="101600" tIns="101600" rIns="101600" bIns="101600" rtlCol="0" anchor="ctr" anchorCtr="0"/>
          <a:lstStyle/>
          <a:p>
            <a:pPr marL="0" indent="0" algn="ctr">
              <a:lnSpc>
                <a:spcPct val="108000"/>
              </a:lnSpc>
              <a:defRPr/>
            </a:pPr>
            <a:r>
              <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rPr>
              <a:t>Presenter: Shiqi Hu</a:t>
            </a:r>
            <a:endPar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endParaRPr>
          </a:p>
          <a:p>
            <a:pPr marL="0" indent="0" algn="ctr">
              <a:lnSpc>
                <a:spcPct val="108000"/>
              </a:lnSpc>
              <a:defRPr/>
            </a:pPr>
            <a:r>
              <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rPr>
              <a:t>Date: 2026.05.28</a:t>
            </a:r>
            <a:endPar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9855" y="0"/>
            <a:ext cx="12661900" cy="68865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07415" y="381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to 3 Fundamental Principles</a:t>
            </a:r>
            <a:endParaRPr lang="en-US" sz="1100"/>
          </a:p>
        </p:txBody>
      </p:sp>
      <p:sp>
        <p:nvSpPr>
          <p:cNvPr id="3" name="AutoShape 3"/>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800" b="0" i="0" u="none" strike="noStrike">
                <a:solidFill>
                  <a:srgbClr val="4B5563"/>
                </a:solidFill>
                <a:latin typeface="Times New Roman" panose="02020603050405020304" charset="0"/>
                <a:ea typeface="Noto Sans SC" panose="020B0200000000000000" charset="-122"/>
                <a:cs typeface="Times New Roman" panose="02020603050405020304" charset="0"/>
                <a:sym typeface="Noto Sans SC" panose="020B0200000000000000" charset="-122"/>
              </a:rPr>
              <a:t>APES 110 Section 110 defines 5 non-negotiable principles that form the foundation of ethical conduct for professional accountants:</a:t>
            </a:r>
            <a:endParaRPr lang="en-US" sz="2800">
              <a:latin typeface="Times New Roman" panose="02020603050405020304" charset="0"/>
              <a:cs typeface="Times New Roman" panose="02020603050405020304" charset="0"/>
            </a:endParaRPr>
          </a:p>
        </p:txBody>
      </p:sp>
      <p:sp>
        <p:nvSpPr>
          <p:cNvPr id="4" name="AutoShape 4"/>
          <p:cNvSpPr/>
          <p:nvPr>
            <p:custDataLst>
              <p:tags r:id="rId1"/>
            </p:custDataLst>
          </p:nvPr>
        </p:nvSpPr>
        <p:spPr>
          <a:xfrm>
            <a:off x="685800" y="2540000"/>
            <a:ext cx="3378200" cy="3556000"/>
          </a:xfrm>
          <a:prstGeom prst="roundRect">
            <a:avLst>
              <a:gd name="adj" fmla="val 4615"/>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1016000" y="2794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01 Integrity</a:t>
            </a:r>
            <a:endParaRPr lang="en-US" sz="2800">
              <a:latin typeface="Times New Roman" panose="02020603050405020304" charset="0"/>
              <a:cs typeface="Times New Roman" panose="02020603050405020304" charset="0"/>
            </a:endParaRPr>
          </a:p>
        </p:txBody>
      </p:sp>
      <p:sp>
        <p:nvSpPr>
          <p:cNvPr id="6" name="AutoShape 6"/>
          <p:cNvSpPr/>
          <p:nvPr>
            <p:custDataLst>
              <p:tags r:id="rId3"/>
            </p:custDataLst>
          </p:nvPr>
        </p:nvSpPr>
        <p:spPr>
          <a:xfrm>
            <a:off x="1016000" y="3556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Be straightforward and honest in all professional and business relationships.</a:t>
            </a:r>
            <a:endParaRPr lang="en-US" sz="2400">
              <a:latin typeface="Times New Roman" panose="02020603050405020304" charset="0"/>
              <a:cs typeface="Times New Roman" panose="02020603050405020304" charset="0"/>
            </a:endParaRPr>
          </a:p>
        </p:txBody>
      </p:sp>
      <p:sp>
        <p:nvSpPr>
          <p:cNvPr id="7" name="AutoShape 7"/>
          <p:cNvSpPr/>
          <p:nvPr>
            <p:custDataLst>
              <p:tags r:id="rId4"/>
            </p:custDataLst>
          </p:nvPr>
        </p:nvSpPr>
        <p:spPr>
          <a:xfrm>
            <a:off x="4351655" y="2470785"/>
            <a:ext cx="3395345" cy="3625215"/>
          </a:xfrm>
          <a:prstGeom prst="roundRect">
            <a:avLst>
              <a:gd name="adj" fmla="val 4615"/>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5"/>
            </p:custDataLst>
          </p:nvPr>
        </p:nvSpPr>
        <p:spPr>
          <a:xfrm>
            <a:off x="4699000" y="2794000"/>
            <a:ext cx="2794000" cy="6350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02 Objectivity</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9" name="AutoShape 9"/>
          <p:cNvSpPr/>
          <p:nvPr>
            <p:custDataLst>
              <p:tags r:id="rId6"/>
            </p:custDataLst>
          </p:nvPr>
        </p:nvSpPr>
        <p:spPr>
          <a:xfrm>
            <a:off x="4699000" y="3556000"/>
            <a:ext cx="2794000" cy="2286000"/>
          </a:xfrm>
          <a:prstGeom prst="rect">
            <a:avLst/>
          </a:prstGeom>
          <a:noFill/>
          <a:ln w="12700" cap="flat" cmpd="sng">
            <a:noFill/>
            <a:prstDash val="solid"/>
            <a:round/>
          </a:ln>
        </p:spPr>
        <p:txBody>
          <a:bodyPr vert="horz" wrap="square" lIns="0" tIns="0" rIns="0" bIns="0" rtlCol="0" anchor="ctr" anchorCtr="0"/>
          <a:lstStyle/>
          <a:p>
            <a:pPr algn="l">
              <a:lnSpc>
                <a:spcPct val="117000"/>
              </a:lnSpc>
              <a:buSzTx/>
              <a:defRPr/>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Avoid bias, conflict of interest and undue influence of others to compromise professional judgment.</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0" name="AutoShape 10"/>
          <p:cNvSpPr/>
          <p:nvPr>
            <p:custDataLst>
              <p:tags r:id="rId7"/>
            </p:custDataLst>
          </p:nvPr>
        </p:nvSpPr>
        <p:spPr>
          <a:xfrm>
            <a:off x="7927975" y="2470785"/>
            <a:ext cx="3502025" cy="3625215"/>
          </a:xfrm>
          <a:prstGeom prst="roundRect">
            <a:avLst>
              <a:gd name="adj" fmla="val 4615"/>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8128000" y="2673350"/>
            <a:ext cx="3558540" cy="1001395"/>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03 Professional Competence and Due Care</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12" name="AutoShape 12"/>
          <p:cNvSpPr/>
          <p:nvPr>
            <p:custDataLst>
              <p:tags r:id="rId9"/>
            </p:custDataLst>
          </p:nvPr>
        </p:nvSpPr>
        <p:spPr>
          <a:xfrm>
            <a:off x="8305800" y="3810000"/>
            <a:ext cx="3055620" cy="2286000"/>
          </a:xfrm>
          <a:prstGeom prst="rect">
            <a:avLst/>
          </a:prstGeom>
          <a:noFill/>
          <a:ln w="12700" cap="flat" cmpd="sng">
            <a:noFill/>
            <a:prstDash val="solid"/>
            <a:round/>
          </a:ln>
        </p:spPr>
        <p:txBody>
          <a:bodyPr vert="horz" wrap="square" lIns="0" tIns="0" rIns="0" bIns="0" rtlCol="0" anchor="ctr" anchorCtr="0"/>
          <a:lstStyle/>
          <a:p>
            <a:pPr algn="l">
              <a:lnSpc>
                <a:spcPct val="117000"/>
              </a:lnSpc>
              <a:buSzTx/>
              <a:defRPr/>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Maintain professional knowledge and skill, act diligently in accordance with applicable standards.</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Principles 1-3 A</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pplication</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custDataLst>
              <p:tags r:id="rId1"/>
            </p:custDataLst>
          </p:nvPr>
        </p:nvSpPr>
        <p:spPr>
          <a:xfrm>
            <a:off x="762000" y="1778000"/>
            <a:ext cx="3302000" cy="4445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1016000" y="183642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a:latin typeface="Times New Roman" panose="02020603050405020304" charset="0"/>
                <a:cs typeface="Times New Roman" panose="02020603050405020304" charset="0"/>
              </a:rPr>
              <a:t>01</a:t>
            </a:r>
            <a:endParaRPr lang="en-US" sz="1100"/>
          </a:p>
        </p:txBody>
      </p:sp>
      <p:sp>
        <p:nvSpPr>
          <p:cNvPr id="5" name="AutoShape 5"/>
          <p:cNvSpPr/>
          <p:nvPr>
            <p:custDataLst>
              <p:tags r:id="rId3"/>
            </p:custDataLst>
          </p:nvPr>
        </p:nvSpPr>
        <p:spPr>
          <a:xfrm>
            <a:off x="1016000" y="280924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Integrity </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6" name="AutoShape 6"/>
          <p:cNvSpPr/>
          <p:nvPr>
            <p:custDataLst>
              <p:tags r:id="rId4"/>
            </p:custDataLst>
          </p:nvPr>
        </p:nvSpPr>
        <p:spPr>
          <a:xfrm>
            <a:off x="960755" y="4000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3B82F6"/>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endParaRPr lang="en-US" sz="2400">
              <a:latin typeface="Times New Roman" panose="02020603050405020304" charset="0"/>
              <a:cs typeface="Times New Roman" panose="02020603050405020304" charset="0"/>
            </a:endParaRPr>
          </a:p>
          <a:p>
            <a:pPr marL="0" algn="l">
              <a:lnSpc>
                <a:spcPct val="117000"/>
              </a:lnSpc>
              <a:buSzTx/>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Do not associate with false/misleading information; correct errors immediately.</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7" name="AutoShape 7"/>
          <p:cNvSpPr/>
          <p:nvPr/>
        </p:nvSpPr>
        <p:spPr>
          <a:xfrm>
            <a:off x="1016000" y="50800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5"/>
            </p:custDataLst>
          </p:nvPr>
        </p:nvSpPr>
        <p:spPr>
          <a:xfrm>
            <a:off x="4445000" y="1778000"/>
            <a:ext cx="3302000" cy="4445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6"/>
            </p:custDataLst>
          </p:nvPr>
        </p:nvSpPr>
        <p:spPr>
          <a:xfrm>
            <a:off x="4699000" y="1836420"/>
            <a:ext cx="27940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48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02</a:t>
            </a:r>
            <a:endParaRPr lang="en-US" sz="48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0" name="AutoShape 10"/>
          <p:cNvSpPr/>
          <p:nvPr>
            <p:custDataLst>
              <p:tags r:id="rId7"/>
            </p:custDataLst>
          </p:nvPr>
        </p:nvSpPr>
        <p:spPr>
          <a:xfrm>
            <a:off x="4730115" y="2809240"/>
            <a:ext cx="27940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Objectivity </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1" name="AutoShape 11"/>
          <p:cNvSpPr/>
          <p:nvPr>
            <p:custDataLst>
              <p:tags r:id="rId8"/>
            </p:custDataLst>
          </p:nvPr>
        </p:nvSpPr>
        <p:spPr>
          <a:xfrm>
            <a:off x="4699000" y="4127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2400" b="1">
                <a:solidFill>
                  <a:srgbClr val="3B82F6"/>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endParaRPr lang="en-US" sz="2400">
              <a:latin typeface="Times New Roman" panose="02020603050405020304" charset="0"/>
              <a:cs typeface="Times New Roman" panose="02020603050405020304" charset="0"/>
            </a:endParaRPr>
          </a:p>
          <a:p>
            <a:pPr marL="0" indent="0" algn="l">
              <a:lnSpc>
                <a:spcPct val="117000"/>
              </a:lnSpc>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Do not let personal relationships or financial interests influence professional judgment.</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2" name="AutoShape 12"/>
          <p:cNvSpPr/>
          <p:nvPr/>
        </p:nvSpPr>
        <p:spPr>
          <a:xfrm>
            <a:off x="4699000" y="50800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8128000" y="1778000"/>
            <a:ext cx="3302000" cy="4445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4" name="AutoShape 14"/>
          <p:cNvSpPr/>
          <p:nvPr>
            <p:custDataLst>
              <p:tags r:id="rId10"/>
            </p:custDataLst>
          </p:nvPr>
        </p:nvSpPr>
        <p:spPr>
          <a:xfrm>
            <a:off x="8382000" y="1778000"/>
            <a:ext cx="27940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4800">
                <a:solidFill>
                  <a:schemeClr val="tx1"/>
                </a:solidFill>
                <a:latin typeface="Times New Roman" panose="02020603050405020304" charset="0"/>
                <a:ea typeface="Noto Sans SC" panose="020B0200000000000000" charset="-122"/>
                <a:cs typeface="Times New Roman" panose="02020603050405020304" charset="0"/>
              </a:rPr>
              <a:t>03</a:t>
            </a:r>
            <a:endParaRPr lang="en-US" sz="48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5" name="AutoShape 15"/>
          <p:cNvSpPr/>
          <p:nvPr>
            <p:custDataLst>
              <p:tags r:id="rId11"/>
            </p:custDataLst>
          </p:nvPr>
        </p:nvSpPr>
        <p:spPr>
          <a:xfrm>
            <a:off x="8190230" y="2540000"/>
            <a:ext cx="3684905" cy="920115"/>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Professional Competence </a:t>
            </a:r>
            <a:endPar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algn="l">
              <a:lnSpc>
                <a:spcPct val="125000"/>
              </a:lnSpc>
              <a:buSzTx/>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and Due Care </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6" name="AutoShape 16"/>
          <p:cNvSpPr/>
          <p:nvPr>
            <p:custDataLst>
              <p:tags r:id="rId12"/>
            </p:custDataLst>
          </p:nvPr>
        </p:nvSpPr>
        <p:spPr>
          <a:xfrm>
            <a:off x="8251190" y="405384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a:solidFill>
                  <a:srgbClr val="3B82F6"/>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endParaRPr lang="en-US" sz="2400">
              <a:latin typeface="Times New Roman" panose="02020603050405020304" charset="0"/>
              <a:cs typeface="Times New Roman" panose="02020603050405020304" charset="0"/>
            </a:endParaRPr>
          </a:p>
          <a:p>
            <a:pPr marL="0" indent="0" algn="l">
              <a:lnSpc>
                <a:spcPct val="100000"/>
              </a:lnSpc>
              <a:defRPr/>
            </a:pPr>
            <a:r>
              <a:rPr lang="en-US" sz="20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Maintain </a:t>
            </a: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up-to-date knowledge; only take on work you are qualified to perform; supervise junior staff.</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7" name="AutoShape 17"/>
          <p:cNvSpPr/>
          <p:nvPr/>
        </p:nvSpPr>
        <p:spPr>
          <a:xfrm>
            <a:off x="8382000" y="5270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and 5 Fundamental Principles</a:t>
            </a:r>
            <a:endParaRPr lang="en-US" sz="1100"/>
          </a:p>
        </p:txBody>
      </p:sp>
      <p:sp>
        <p:nvSpPr>
          <p:cNvPr id="3" name="AutoShape 3"/>
          <p:cNvSpPr/>
          <p:nvPr/>
        </p:nvSpPr>
        <p:spPr>
          <a:xfrm>
            <a:off x="762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28700" y="2159000"/>
            <a:ext cx="4673600" cy="762000"/>
          </a:xfrm>
          <a:prstGeom prst="roundRect">
            <a:avLst>
              <a:gd name="adj" fmla="val 0"/>
            </a:avLst>
          </a:prstGeom>
          <a:noFill/>
          <a:ln w="254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Times New Roman" panose="02020603050405020304"/>
              </a:rPr>
              <a:t>04. Confidentiality</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5" name="AutoShape 5"/>
          <p:cNvSpPr/>
          <p:nvPr/>
        </p:nvSpPr>
        <p:spPr>
          <a:xfrm>
            <a:off x="1028700" y="3302000"/>
            <a:ext cx="467360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defRPr/>
            </a:pP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Protect sensitive information acquired through professional activities, and do not disclose it without proper authority.</a:t>
            </a:r>
            <a:endParaRPr lang="en-US" sz="2400">
              <a:latin typeface="Times New Roman" panose="02020603050405020304" charset="0"/>
              <a:cs typeface="Times New Roman" panose="02020603050405020304" charset="0"/>
            </a:endParaRPr>
          </a:p>
        </p:txBody>
      </p:sp>
      <p:sp>
        <p:nvSpPr>
          <p:cNvPr id="6" name="AutoShape 6"/>
          <p:cNvSpPr/>
          <p:nvPr/>
        </p:nvSpPr>
        <p:spPr>
          <a:xfrm>
            <a:off x="6223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489700" y="2159000"/>
            <a:ext cx="4673600" cy="762000"/>
          </a:xfrm>
          <a:prstGeom prst="roundRect">
            <a:avLst>
              <a:gd name="adj" fmla="val 0"/>
            </a:avLst>
          </a:prstGeom>
          <a:noFill/>
          <a:ln w="254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Times New Roman" panose="02020603050405020304"/>
              </a:rPr>
              <a:t>05. Professional Behaviour</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8" name="AutoShape 8"/>
          <p:cNvSpPr/>
          <p:nvPr/>
        </p:nvSpPr>
        <p:spPr>
          <a:xfrm>
            <a:off x="6489700" y="3302000"/>
            <a:ext cx="467360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defRPr/>
            </a:pP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Comply with relevant laws and regulations, and avoid any conduct that discredits the profession.</a:t>
            </a:r>
            <a:endParaRPr lang="en-US" sz="2400">
              <a:solidFill>
                <a:srgbClr val="374151"/>
              </a:solidFill>
              <a:latin typeface="Times New Roman" panose="02020603050405020304" charset="0"/>
              <a:ea typeface="Noto Sans SC" panose="020B0200000000000000" charset="-122"/>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Principles 4-5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custDataLst>
              <p:tags r:id="rId1"/>
            </p:custDataLst>
          </p:nvPr>
        </p:nvSpPr>
        <p:spPr>
          <a:xfrm>
            <a:off x="762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1025525" y="1899920"/>
            <a:ext cx="393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04. Confidentiality</a:t>
            </a: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6" name="AutoShape 6"/>
          <p:cNvSpPr/>
          <p:nvPr/>
        </p:nvSpPr>
        <p:spPr>
          <a:xfrm>
            <a:off x="1066800" y="3037840"/>
            <a:ext cx="45974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800"/>
              </a:spcBef>
              <a:defRPr/>
            </a:pPr>
            <a:r>
              <a:rPr lang="en-US" sz="24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Do not disclose client/employer information without proper authority; do not use confidential information for personal gain.</a:t>
            </a:r>
            <a:endParaRPr lang="en-US" sz="2400">
              <a:latin typeface="Times New Roman" panose="02020603050405020304" charset="0"/>
              <a:cs typeface="Times New Roman" panose="02020603050405020304" charset="0"/>
            </a:endParaRPr>
          </a:p>
          <a:p>
            <a:pPr marL="0" indent="0" algn="l">
              <a:lnSpc>
                <a:spcPct val="125000"/>
              </a:lnSpc>
              <a:spcBef>
                <a:spcPts val="1200"/>
              </a:spcBef>
            </a:pPr>
            <a:r>
              <a:rPr lang="en-US" sz="2400" b="1" i="0" u="none" strike="noStrike">
                <a:solidFill>
                  <a:srgbClr val="D97706"/>
                </a:solidFill>
                <a:latin typeface="Times New Roman" panose="02020603050405020304" charset="0"/>
                <a:ea typeface="Noto Sans SC" panose="020B0200000000000000" charset="-122"/>
                <a:cs typeface="Times New Roman" panose="02020603050405020304" charset="0"/>
                <a:sym typeface="Noto Sans SC" panose="020B0200000000000000" charset="-122"/>
              </a:rPr>
              <a:t>Exception:</a:t>
            </a: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Required by law (e.g., reporting fraud to authorities).</a:t>
            </a:r>
            <a:endPar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indent="0" algn="l">
              <a:lnSpc>
                <a:spcPct val="125000"/>
              </a:lnSpc>
              <a:spcBef>
                <a:spcPts val="1200"/>
              </a:spcBef>
            </a:pPr>
            <a:endPar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7" name="AutoShape 7"/>
          <p:cNvSpPr/>
          <p:nvPr>
            <p:custDataLst>
              <p:tags r:id="rId3"/>
            </p:custDataLst>
          </p:nvPr>
        </p:nvSpPr>
        <p:spPr>
          <a:xfrm>
            <a:off x="6223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4"/>
            </p:custDataLst>
          </p:nvPr>
        </p:nvSpPr>
        <p:spPr>
          <a:xfrm>
            <a:off x="6594475" y="1960880"/>
            <a:ext cx="393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05. Professional Behaviour </a:t>
            </a:r>
            <a:endParaRPr lang="en-US" sz="2400">
              <a:latin typeface="Times New Roman" panose="02020603050405020304" charset="0"/>
              <a:cs typeface="Times New Roman" panose="02020603050405020304" charset="0"/>
            </a:endParaRPr>
          </a:p>
        </p:txBody>
      </p:sp>
      <p:sp>
        <p:nvSpPr>
          <p:cNvPr id="10" name="AutoShape 10"/>
          <p:cNvSpPr/>
          <p:nvPr/>
        </p:nvSpPr>
        <p:spPr>
          <a:xfrm>
            <a:off x="6527800" y="2921000"/>
            <a:ext cx="45974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800"/>
              </a:spcBef>
              <a:defRPr/>
            </a:pPr>
            <a:r>
              <a:rPr lang="en-US" sz="24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Comply with all laws and regulations; avoid any conduct that discredits the accounting profession or brings it into disrepute.</a:t>
            </a:r>
            <a:endParaRPr lang="en-US" sz="2400">
              <a:solidFill>
                <a:srgbClr val="374151"/>
              </a:solidFill>
              <a:latin typeface="Times New Roman" panose="02020603050405020304" charset="0"/>
              <a:ea typeface="Noto Sans SC" panose="020B0200000000000000" charset="-122"/>
              <a:cs typeface="Times New Roman" panose="02020603050405020304" charset="0"/>
            </a:endParaRPr>
          </a:p>
          <a:p>
            <a:pPr marL="0" indent="0" algn="l">
              <a:lnSpc>
                <a:spcPct val="125000"/>
              </a:lnSpc>
              <a:spcBef>
                <a:spcPts val="2400"/>
              </a:spcBef>
            </a:pP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Case Study: Breach of Multiple Principles</a:t>
            </a:r>
            <a:endParaRPr lang="en-US" sz="1100"/>
          </a:p>
        </p:txBody>
      </p:sp>
      <p:sp>
        <p:nvSpPr>
          <p:cNvPr id="3" name="AutoShape 3"/>
          <p:cNvSpPr/>
          <p:nvPr/>
        </p:nvSpPr>
        <p:spPr>
          <a:xfrm>
            <a:off x="624205" y="1778000"/>
            <a:ext cx="3322955" cy="4318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841500"/>
            <a:ext cx="2260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The Example</a:t>
            </a:r>
            <a:endParaRPr lang="en-US" sz="1100"/>
          </a:p>
        </p:txBody>
      </p:sp>
      <p:sp>
        <p:nvSpPr>
          <p:cNvPr id="6" name="AutoShape 6"/>
          <p:cNvSpPr/>
          <p:nvPr/>
        </p:nvSpPr>
        <p:spPr>
          <a:xfrm>
            <a:off x="624205" y="2865755"/>
            <a:ext cx="3372485"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Sarah, a management accountant, is pressured by her CEO to “smooth” the company’s quarterly earnings by deferring $2 million in expenses. The CEO threatens that company jobs are at stake if she does not comply. Despite knowing the action will render the financial statements misleading, Sarah reluctantly agrees to follow the instructions.</a:t>
            </a:r>
            <a:endParaRPr lang="en-US" sz="1800">
              <a:latin typeface="Times New Roman" panose="02020603050405020304" charset="0"/>
              <a:cs typeface="Times New Roman" panose="02020603050405020304" charset="0"/>
            </a:endParaRPr>
          </a:p>
        </p:txBody>
      </p:sp>
      <p:sp>
        <p:nvSpPr>
          <p:cNvPr id="7" name="AutoShape 7"/>
          <p:cNvSpPr/>
          <p:nvPr/>
        </p:nvSpPr>
        <p:spPr>
          <a:xfrm>
            <a:off x="4445000" y="1778000"/>
            <a:ext cx="3302000" cy="4318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558665" y="1841500"/>
            <a:ext cx="256413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Principle Breaches</a:t>
            </a:r>
            <a:endParaRPr lang="en-US" sz="1100"/>
          </a:p>
        </p:txBody>
      </p:sp>
      <p:sp>
        <p:nvSpPr>
          <p:cNvPr id="10" name="AutoShape 10"/>
          <p:cNvSpPr/>
          <p:nvPr/>
        </p:nvSpPr>
        <p:spPr>
          <a:xfrm>
            <a:off x="4513580" y="2921000"/>
            <a:ext cx="3292475"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800"/>
              </a:spcBef>
              <a:defRPr/>
            </a:pPr>
            <a:r>
              <a:rPr lang="en-US" sz="18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1. Integrity:</a:t>
            </a: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Associating oneself with materially false or misleading financial information.</a:t>
            </a:r>
            <a:endParaRPr lang="en-US" sz="1800">
              <a:latin typeface="Times New Roman" panose="02020603050405020304" charset="0"/>
              <a:cs typeface="Times New Roman" panose="02020603050405020304" charset="0"/>
            </a:endParaRPr>
          </a:p>
          <a:p>
            <a:pPr marL="0" indent="0" algn="l">
              <a:lnSpc>
                <a:spcPct val="117000"/>
              </a:lnSpc>
              <a:spcBef>
                <a:spcPts val="1200"/>
              </a:spcBef>
            </a:pPr>
            <a:r>
              <a:rPr lang="en-US" sz="18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2. Objectivity:</a:t>
            </a: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Allowing undue influence and intimidation from the CEO to override professional judgment.</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indent="0" algn="l">
              <a:lnSpc>
                <a:spcPct val="117000"/>
              </a:lnSpc>
              <a:spcBef>
                <a:spcPts val="1200"/>
              </a:spcBef>
            </a:pPr>
            <a:r>
              <a:rPr lang="en-US" sz="18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3. Professional Behaviour:</a:t>
            </a: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Violating fundamental accounting standards and applicable corporate law.</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1" name="AutoShape 11"/>
          <p:cNvSpPr/>
          <p:nvPr/>
        </p:nvSpPr>
        <p:spPr>
          <a:xfrm>
            <a:off x="8128000" y="1778000"/>
            <a:ext cx="3302000" cy="4318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315325" y="1841500"/>
            <a:ext cx="244665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Outcomes</a:t>
            </a:r>
            <a:endParaRPr lang="en-US" sz="1100"/>
          </a:p>
        </p:txBody>
      </p:sp>
      <p:sp>
        <p:nvSpPr>
          <p:cNvPr id="14" name="AutoShape 14"/>
          <p:cNvSpPr/>
          <p:nvPr/>
        </p:nvSpPr>
        <p:spPr>
          <a:xfrm>
            <a:off x="8195310" y="2776220"/>
            <a:ext cx="2981325"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ASIC launches a formal investigation into the company’s financial reporting.</a:t>
            </a:r>
            <a:endParaRPr lang="en-US" sz="1800">
              <a:latin typeface="Times New Roman" panose="02020603050405020304" charset="0"/>
              <a:cs typeface="Times New Roman" panose="02020603050405020304" charset="0"/>
            </a:endParaRPr>
          </a:p>
          <a:p>
            <a:pPr marL="0" indent="0" algn="l">
              <a:lnSpc>
                <a:spcPct val="133000"/>
              </a:lnSpc>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Sarah is permanently stripped of her CPA membership and issued a huge amount fine.</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indent="0" algn="l">
              <a:lnSpc>
                <a:spcPct val="133000"/>
              </a:lnSpc>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This company is forced to restate financials and faces costly class-action lawsuits from shareholders.</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a:t>
            </a:r>
            <a:endParaRPr lang="en-US" sz="1100"/>
          </a:p>
        </p:txBody>
      </p:sp>
      <p:sp>
        <p:nvSpPr>
          <p:cNvPr id="3" name="AutoShape 3"/>
          <p:cNvSpPr/>
          <p:nvPr>
            <p:custDataLst>
              <p:tags r:id="rId1"/>
            </p:custDataLst>
          </p:nvPr>
        </p:nvSpPr>
        <p:spPr>
          <a:xfrm>
            <a:off x="762000" y="1778000"/>
            <a:ext cx="3302000" cy="2159000"/>
          </a:xfrm>
          <a:prstGeom prst="roundRect">
            <a:avLst>
              <a:gd name="adj" fmla="val 7058"/>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32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1E40AF"/>
                </a:solidFill>
                <a:latin typeface="Times New Roman" panose="02020603050405020304" charset="0"/>
                <a:ea typeface="Noto Sans SC" panose="020B0200000000000000" charset="-122"/>
                <a:cs typeface="Times New Roman" panose="02020603050405020304" charset="0"/>
                <a:sym typeface="Noto Sans SC" panose="020B0200000000000000" charset="-122"/>
              </a:rPr>
              <a:t>Foundation of Practice</a:t>
            </a:r>
            <a:endParaRPr lang="en-US" sz="2000">
              <a:latin typeface="Times New Roman" panose="02020603050405020304" charset="0"/>
              <a:cs typeface="Times New Roman" panose="02020603050405020304" charset="0"/>
            </a:endParaRPr>
          </a:p>
          <a:p>
            <a:pPr marL="0" indent="0" algn="l">
              <a:lnSpc>
                <a:spcPct val="108000"/>
              </a:lnSpc>
              <a:spcBef>
                <a:spcPts val="800"/>
              </a:spcBef>
            </a:pPr>
            <a:r>
              <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The 5 fundamental principles are the bedrock of ethical accounting practice, guiding decision-making in every professional scenario.</a:t>
            </a:r>
            <a:endPar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6" name="AutoShape 6"/>
          <p:cNvSpPr/>
          <p:nvPr>
            <p:custDataLst>
              <p:tags r:id="rId4"/>
            </p:custDataLst>
          </p:nvPr>
        </p:nvSpPr>
        <p:spPr>
          <a:xfrm>
            <a:off x="4445000" y="1778000"/>
            <a:ext cx="3302000" cy="2159000"/>
          </a:xfrm>
          <a:prstGeom prst="roundRect">
            <a:avLst>
              <a:gd name="adj" fmla="val 7058"/>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5"/>
            </p:custDataLst>
          </p:nvPr>
        </p:nvSpPr>
        <p:spPr>
          <a:xfrm>
            <a:off x="4445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4650740" y="1894205"/>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1E40AF"/>
                </a:solidFill>
                <a:latin typeface="Times New Roman" panose="02020603050405020304" charset="0"/>
                <a:ea typeface="Noto Sans SC" panose="020B0200000000000000" charset="-122"/>
                <a:cs typeface="Times New Roman" panose="02020603050405020304" charset="0"/>
                <a:sym typeface="Noto Sans SC" panose="020B0200000000000000" charset="-122"/>
              </a:rPr>
              <a:t>Public Trust &amp; Interest</a:t>
            </a:r>
            <a:endParaRPr lang="en-US" sz="2000">
              <a:latin typeface="Times New Roman" panose="02020603050405020304" charset="0"/>
              <a:cs typeface="Times New Roman" panose="02020603050405020304" charset="0"/>
            </a:endParaRPr>
          </a:p>
          <a:p>
            <a:pPr marL="0" indent="0" algn="l">
              <a:lnSpc>
                <a:spcPct val="108000"/>
              </a:lnSpc>
              <a:spcBef>
                <a:spcPts val="800"/>
              </a:spcBef>
            </a:pPr>
            <a:r>
              <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They protect the public interest by maintaining the integrity and reputation of the accounting profession.</a:t>
            </a:r>
            <a:endPar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9" name="AutoShape 9"/>
          <p:cNvSpPr/>
          <p:nvPr>
            <p:custDataLst>
              <p:tags r:id="rId7"/>
            </p:custDataLst>
          </p:nvPr>
        </p:nvSpPr>
        <p:spPr>
          <a:xfrm>
            <a:off x="8128000" y="1778000"/>
            <a:ext cx="3302000" cy="2159000"/>
          </a:xfrm>
          <a:prstGeom prst="roundRect">
            <a:avLst>
              <a:gd name="adj" fmla="val 7058"/>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8128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8318500" y="19685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1E40AF"/>
                </a:solidFill>
                <a:latin typeface="Times New Roman" panose="02020603050405020304" charset="0"/>
                <a:ea typeface="Noto Sans SC" panose="020B0200000000000000" charset="-122"/>
                <a:cs typeface="Times New Roman" panose="02020603050405020304" charset="0"/>
                <a:sym typeface="Noto Sans SC" panose="020B0200000000000000" charset="-122"/>
              </a:rPr>
              <a:t>Framework Application</a:t>
            </a:r>
            <a:endParaRPr lang="en-US" sz="2000">
              <a:latin typeface="Times New Roman" panose="02020603050405020304" charset="0"/>
              <a:cs typeface="Times New Roman" panose="02020603050405020304" charset="0"/>
            </a:endParaRPr>
          </a:p>
          <a:p>
            <a:pPr marL="0" indent="0" algn="l">
              <a:lnSpc>
                <a:spcPct val="108000"/>
              </a:lnSpc>
              <a:spcBef>
                <a:spcPts val="800"/>
              </a:spcBef>
            </a:pPr>
            <a:r>
              <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Accountants must actively use the conceptual framework to identify, evaluate, and address threats to these core principles.</a:t>
            </a:r>
            <a:endPar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2" name="AutoShape 12"/>
          <p:cNvSpPr/>
          <p:nvPr/>
        </p:nvSpPr>
        <p:spPr>
          <a:xfrm>
            <a:off x="347980" y="4318000"/>
            <a:ext cx="11496040" cy="2102485"/>
          </a:xfrm>
          <a:prstGeom prst="roundRect">
            <a:avLst>
              <a:gd name="adj" fmla="val 13333"/>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70000" y="487426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solidFill>
                <a:latin typeface="Times New Roman" panose="02020603050405020304" charset="0"/>
                <a:ea typeface="Noto Sans SC" panose="020B0200000000000000" charset="-122"/>
                <a:cs typeface="Times New Roman" panose="02020603050405020304" charset="0"/>
                <a:sym typeface="Noto Sans SC" panose="020B0200000000000000" charset="-122"/>
              </a:rPr>
              <a:t>Ethical behavior is not optional – it is an essential, non-negotiable obligation for every professional accountant.</a:t>
            </a:r>
            <a:endParaRPr lang="en-US" sz="2800">
              <a:latin typeface="Times New Roman" panose="02020603050405020304" charset="0"/>
              <a:cs typeface="Times New Roman" panose="02020603050405020304" charset="0"/>
            </a:endParaRPr>
          </a:p>
        </p:txBody>
      </p:sp>
      <p:sp>
        <p:nvSpPr>
          <p:cNvPr id="14" name="AutoShape 14"/>
          <p:cNvSpPr/>
          <p:nvPr/>
        </p:nvSpPr>
        <p:spPr>
          <a:xfrm>
            <a:off x="0" y="5778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62255" y="360045"/>
            <a:ext cx="11701145" cy="6127115"/>
          </a:xfrm>
          <a:prstGeom prst="rect">
            <a:avLst/>
          </a:prstGeom>
          <a:noFill/>
        </p:spPr>
        <p:txBody>
          <a:bodyPr wrap="square" rtlCol="0">
            <a:noAutofit/>
          </a:bodyPr>
          <a:p>
            <a:r>
              <a:rPr lang="en-US" altLang="zh-CN" sz="4000" b="1">
                <a:latin typeface="Times New Roman" panose="02020603050405020304" charset="0"/>
                <a:cs typeface="Times New Roman" panose="02020603050405020304" charset="0"/>
              </a:rPr>
              <a:t>References</a:t>
            </a:r>
            <a:r>
              <a:rPr lang="zh-CN" altLang="en-US" sz="4000" b="1">
                <a:latin typeface="Times New Roman" panose="02020603050405020304" charset="0"/>
                <a:ea typeface="宋体" panose="02010600030101010101" pitchFamily="2" charset="-122"/>
                <a:cs typeface="Times New Roman" panose="02020603050405020304" charset="0"/>
              </a:rPr>
              <a:t>：</a:t>
            </a:r>
            <a:endParaRPr lang="zh-CN" altLang="en-US" sz="4000" b="1">
              <a:latin typeface="Times New Roman" panose="02020603050405020304" charset="0"/>
              <a:ea typeface="宋体" panose="02010600030101010101" pitchFamily="2" charset="-122"/>
              <a:cs typeface="Times New Roman" panose="02020603050405020304" charset="0"/>
            </a:endParaRPr>
          </a:p>
          <a:p>
            <a:endParaRPr lang="zh-CN" altLang="en-US" sz="4000" b="1">
              <a:latin typeface="Times New Roman" panose="02020603050405020304" charset="0"/>
              <a:ea typeface="宋体" panose="02010600030101010101" pitchFamily="2" charset="-122"/>
              <a:cs typeface="Times New Roman" panose="02020603050405020304" charset="0"/>
            </a:endParaRPr>
          </a:p>
          <a:p>
            <a:pPr marL="457200" indent="-457200" eaLnBrk="1" fontAlgn="auto" latinLnBrk="0" hangingPunct="1"/>
            <a:r>
              <a:rPr lang="en-US" altLang="zh-CN" sz="2800">
                <a:latin typeface="Times New Roman" panose="02020603050405020304" charset="0"/>
                <a:ea typeface="宋体" panose="02010600030101010101" pitchFamily="2" charset="-122"/>
                <a:cs typeface="Times New Roman" panose="02020603050405020304" charset="0"/>
              </a:rPr>
              <a:t>Accounting Professional &amp; Ethical Standards Board. (2018, November). APES 110 Code of ethics for professional accountants (including independence standards). Author. https://www.apesb.edu.au/standards/apes-110-code-of-ethics/</a:t>
            </a:r>
            <a:endParaRPr lang="en-US" altLang="zh-CN" sz="2800">
              <a:latin typeface="Times New Roman" panose="02020603050405020304" charset="0"/>
              <a:ea typeface="宋体" panose="02010600030101010101" pitchFamily="2" charset="-122"/>
              <a:cs typeface="Times New Roman" panose="02020603050405020304" charset="0"/>
            </a:endParaRPr>
          </a:p>
          <a:p>
            <a:pPr marL="457200" indent="-457200" eaLnBrk="1" fontAlgn="auto" latinLnBrk="0" hangingPunct="1"/>
            <a:endParaRPr lang="en-US" altLang="zh-CN" sz="2800">
              <a:latin typeface="Times New Roman" panose="02020603050405020304" charset="0"/>
              <a:ea typeface="宋体" panose="02010600030101010101" pitchFamily="2" charset="-122"/>
              <a:cs typeface="Times New Roman" panose="02020603050405020304" charset="0"/>
            </a:endParaRPr>
          </a:p>
          <a:p>
            <a:pPr marL="457200" indent="-457200" eaLnBrk="1" fontAlgn="auto" latinLnBrk="0" hangingPunct="1"/>
            <a:r>
              <a:rPr lang="en-US" altLang="zh-CN" sz="2800">
                <a:latin typeface="Times New Roman" panose="02020603050405020304" charset="0"/>
                <a:ea typeface="宋体" panose="02010600030101010101" pitchFamily="2" charset="-122"/>
                <a:cs typeface="Times New Roman" panose="02020603050405020304" charset="0"/>
              </a:rPr>
              <a:t>Auditing and Assurance Standards Board. (2019). ASA 102 Compliance with ethical requirements when performing audits, reviews and other assurance engagements. Author. https://www.auasb.gov.au/standards/auditing-standards/asa-102/</a:t>
            </a:r>
            <a:endParaRPr lang="en-US" altLang="zh-CN" sz="2800">
              <a:latin typeface="Times New Roman" panose="02020603050405020304" charset="0"/>
              <a:ea typeface="宋体" panose="02010600030101010101" pitchFamily="2" charset="-122"/>
              <a:cs typeface="Times New Roman" panose="02020603050405020304" charset="0"/>
            </a:endParaRPr>
          </a:p>
          <a:p>
            <a:endParaRPr lang="en-US" altLang="zh-CN"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E4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0">
            <a:gsLst>
              <a:gs pos="0">
                <a:srgbClr val="B6CDF8">
                  <a:alpha val="100000"/>
                </a:srgbClr>
              </a:gs>
              <a:gs pos="100000">
                <a:srgbClr val="FFFFFF">
                  <a:alpha val="100000"/>
                </a:srgbClr>
              </a:gs>
            </a:gsLst>
            <a:lin ang="180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0800000" flipV="1">
            <a:off x="8610600" y="1257300"/>
            <a:ext cx="1765300" cy="1765300"/>
          </a:xfrm>
          <a:prstGeom prst="ellipse">
            <a:avLst/>
          </a:prstGeom>
          <a:gradFill rotWithShape="0">
            <a:gsLst>
              <a:gs pos="0">
                <a:srgbClr val="FFFFFF">
                  <a:alpha val="0"/>
                </a:srgbClr>
              </a:gs>
              <a:gs pos="100000">
                <a:srgbClr val="3A76E9">
                  <a:alpha val="17000"/>
                </a:srgbClr>
              </a:gs>
            </a:gsLst>
            <a:lin ang="207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2700000" flipV="1">
            <a:off x="1562100" y="2209800"/>
            <a:ext cx="2032000" cy="3835400"/>
          </a:xfrm>
          <a:prstGeom prst="round2SameRect">
            <a:avLst>
              <a:gd name="adj1" fmla="val 49936"/>
              <a:gd name="adj2" fmla="val 0"/>
            </a:avLst>
          </a:prstGeom>
          <a:gradFill rotWithShape="1">
            <a:gsLst>
              <a:gs pos="0">
                <a:srgbClr val="FFFFFF">
                  <a:alpha val="100000"/>
                </a:srgbClr>
              </a:gs>
              <a:gs pos="87000">
                <a:srgbClr val="FFFF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8100000" flipV="1">
            <a:off x="1866900" y="1003300"/>
            <a:ext cx="2032000" cy="3771900"/>
          </a:xfrm>
          <a:prstGeom prst="round2SameRect">
            <a:avLst>
              <a:gd name="adj1" fmla="val 49936"/>
              <a:gd name="adj2" fmla="val 0"/>
            </a:avLst>
          </a:prstGeom>
          <a:gradFill rotWithShape="1">
            <a:gsLst>
              <a:gs pos="0">
                <a:srgbClr val="FFFFFF">
                  <a:alpha val="0"/>
                </a:srgbClr>
              </a:gs>
              <a:gs pos="56000">
                <a:srgbClr val="3A76E9">
                  <a:alpha val="34000"/>
                </a:srgbClr>
              </a:gs>
              <a:gs pos="98000">
                <a:srgbClr val="3A76E9">
                  <a:alpha val="55000"/>
                </a:srgbClr>
              </a:gs>
            </a:gsLst>
            <a:lin ang="162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521200" y="1651000"/>
            <a:ext cx="6731000" cy="1016000"/>
          </a:xfrm>
          <a:prstGeom prst="rect">
            <a:avLst/>
          </a:prstGeom>
          <a:noFill/>
          <a:ln w="12700" cap="flat" cmpd="sng">
            <a:noFill/>
            <a:prstDash val="solid"/>
            <a:round/>
          </a:ln>
        </p:spPr>
        <p:txBody>
          <a:bodyPr vert="horz" wrap="square" lIns="0" tIns="0" rIns="0" bIns="0" rtlCol="0" anchor="b" anchorCtr="0"/>
          <a:lstStyle/>
          <a:p>
            <a:pPr marL="0" indent="0" algn="r">
              <a:lnSpc>
                <a:spcPct val="100000"/>
              </a:lnSpc>
              <a:spcBef>
                <a:spcPts val="600"/>
              </a:spcBef>
              <a:defRPr/>
            </a:pPr>
            <a:endParaRPr lang="en-US" sz="1100"/>
          </a:p>
        </p:txBody>
      </p:sp>
      <p:sp>
        <p:nvSpPr>
          <p:cNvPr id="7" name="AutoShape 7"/>
          <p:cNvSpPr/>
          <p:nvPr/>
        </p:nvSpPr>
        <p:spPr>
          <a:xfrm>
            <a:off x="2872740" y="2437765"/>
            <a:ext cx="10942955" cy="2858135"/>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Thank you</a:t>
            </a:r>
            <a:endPar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marL="0" indent="0" algn="l">
              <a:lnSpc>
                <a:spcPct val="92000"/>
              </a:lnSpc>
              <a:defRPr/>
            </a:pPr>
            <a:r>
              <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 for listening</a:t>
            </a:r>
            <a:endPar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285.45,&quot;left&quot;:54,&quot;top&quot;:194.55,&quot;width&quot;:871.7}"/>
</p:tagLst>
</file>

<file path=ppt/tags/tag2.xml><?xml version="1.0" encoding="utf-8"?>
<p:tagLst xmlns:p="http://schemas.openxmlformats.org/presentationml/2006/main">
  <p:tag name="KSO_WM_DIAGRAM_VIRTUALLY_FRAME" val="{&quot;height&quot;:285.45,&quot;left&quot;:54,&quot;top&quot;:194.55,&quot;width&quot;:871.7}"/>
</p:tagLst>
</file>

<file path=ppt/tags/tag3.xml><?xml version="1.0" encoding="utf-8"?>
<p:tagLst xmlns:p="http://schemas.openxmlformats.org/presentationml/2006/main">
  <p:tag name="KSO_WM_DIAGRAM_VIRTUALLY_FRAME" val="{&quot;height&quot;:285.45,&quot;left&quot;:54,&quot;top&quot;:194.55,&quot;width&quot;:871.7}"/>
</p:tagLst>
</file>

<file path=ppt/tags/tag4.xml><?xml version="1.0" encoding="utf-8"?>
<p:tagLst xmlns:p="http://schemas.openxmlformats.org/presentationml/2006/main">
  <p:tag name="KSO_WM_DIAGRAM_VIRTUALLY_FRAME" val="{&quot;height&quot;:285.45,&quot;left&quot;:54,&quot;top&quot;:194.55,&quot;width&quot;:871.7}"/>
</p:tagLst>
</file>

<file path=ppt/tags/tag5.xml><?xml version="1.0" encoding="utf-8"?>
<p:tagLst xmlns:p="http://schemas.openxmlformats.org/presentationml/2006/main">
  <p:tag name="KSO_WM_DIAGRAM_VIRTUALLY_FRAME" val="{&quot;height&quot;:285.45,&quot;left&quot;:54,&quot;top&quot;:194.55,&quot;width&quot;:871.7}"/>
</p:tagLst>
</file>

<file path=ppt/tags/tag6.xml><?xml version="1.0" encoding="utf-8"?>
<p:tagLst xmlns:p="http://schemas.openxmlformats.org/presentationml/2006/main">
  <p:tag name="KSO_WM_DIAGRAM_VIRTUALLY_FRAME" val="{&quot;height&quot;:285.45,&quot;left&quot;:54,&quot;top&quot;:194.55,&quot;width&quot;:871.7}"/>
</p:tagLst>
</file>

<file path=ppt/tags/tag7.xml><?xml version="1.0" encoding="utf-8"?>
<p:tagLst xmlns:p="http://schemas.openxmlformats.org/presentationml/2006/main">
  <p:tag name="KSO_WM_DIAGRAM_VIRTUALLY_FRAME" val="{&quot;height&quot;:285.45,&quot;left&quot;:54,&quot;top&quot;:194.55,&quot;width&quot;:871.7}"/>
</p:tagLst>
</file>

<file path=ppt/tags/tag8.xml><?xml version="1.0" encoding="utf-8"?>
<p:tagLst xmlns:p="http://schemas.openxmlformats.org/presentationml/2006/main">
  <p:tag name="KSO_WM_DIAGRAM_VIRTUALLY_FRAME" val="{&quot;height&quot;:285.45,&quot;left&quot;:54,&quot;top&quot;:194.55,&quot;width&quot;:871.7}"/>
</p:tagLst>
</file>

<file path=ppt/tags/tag9.xml><?xml version="1.0" encoding="utf-8"?>
<p:tagLst xmlns:p="http://schemas.openxmlformats.org/presentationml/2006/main">
  <p:tag name="KSO_WM_DIAGRAM_VIRTUALLY_FRAME" val="{&quot;height&quot;:285.45,&quot;left&quot;:54,&quot;top&quot;:194.55,&quot;width&quot;:871.7}"/>
</p:tagLst>
</file>

<file path=ppt/tags/tag10.xml><?xml version="1.0" encoding="utf-8"?>
<p:tagLst xmlns:p="http://schemas.openxmlformats.org/presentationml/2006/main">
  <p:tag name="KSO_WM_DIAGRAM_VIRTUALLY_FRAME" val="{&quot;height&quot;:350,&quot;left&quot;:60,&quot;top&quot;:140,&quot;width&quot;:875.05}"/>
</p:tagLst>
</file>

<file path=ppt/tags/tag11.xml><?xml version="1.0" encoding="utf-8"?>
<p:tagLst xmlns:p="http://schemas.openxmlformats.org/presentationml/2006/main">
  <p:tag name="KSO_WM_DIAGRAM_VIRTUALLY_FRAME" val="{&quot;height&quot;:350,&quot;left&quot;:60,&quot;top&quot;:140,&quot;width&quot;:875.05}"/>
</p:tagLst>
</file>

<file path=ppt/tags/tag12.xml><?xml version="1.0" encoding="utf-8"?>
<p:tagLst xmlns:p="http://schemas.openxmlformats.org/presentationml/2006/main">
  <p:tag name="KSO_WM_DIAGRAM_VIRTUALLY_FRAME" val="{&quot;height&quot;:350,&quot;left&quot;:60,&quot;top&quot;:140,&quot;width&quot;:875.05}"/>
</p:tagLst>
</file>

<file path=ppt/tags/tag13.xml><?xml version="1.0" encoding="utf-8"?>
<p:tagLst xmlns:p="http://schemas.openxmlformats.org/presentationml/2006/main">
  <p:tag name="KSO_WM_DIAGRAM_VIRTUALLY_FRAME" val="{&quot;height&quot;:350,&quot;left&quot;:60,&quot;top&quot;:140,&quot;width&quot;:875.05}"/>
</p:tagLst>
</file>

<file path=ppt/tags/tag14.xml><?xml version="1.0" encoding="utf-8"?>
<p:tagLst xmlns:p="http://schemas.openxmlformats.org/presentationml/2006/main">
  <p:tag name="KSO_WM_DIAGRAM_VIRTUALLY_FRAME" val="{&quot;height&quot;:350,&quot;left&quot;:60,&quot;top&quot;:140,&quot;width&quot;:875.05}"/>
</p:tagLst>
</file>

<file path=ppt/tags/tag15.xml><?xml version="1.0" encoding="utf-8"?>
<p:tagLst xmlns:p="http://schemas.openxmlformats.org/presentationml/2006/main">
  <p:tag name="KSO_WM_DIAGRAM_VIRTUALLY_FRAME" val="{&quot;height&quot;:350,&quot;left&quot;:60,&quot;top&quot;:140,&quot;width&quot;:875.05}"/>
</p:tagLst>
</file>

<file path=ppt/tags/tag16.xml><?xml version="1.0" encoding="utf-8"?>
<p:tagLst xmlns:p="http://schemas.openxmlformats.org/presentationml/2006/main">
  <p:tag name="KSO_WM_DIAGRAM_VIRTUALLY_FRAME" val="{&quot;height&quot;:350,&quot;left&quot;:60,&quot;top&quot;:140,&quot;width&quot;:875.05}"/>
</p:tagLst>
</file>

<file path=ppt/tags/tag17.xml><?xml version="1.0" encoding="utf-8"?>
<p:tagLst xmlns:p="http://schemas.openxmlformats.org/presentationml/2006/main">
  <p:tag name="KSO_WM_DIAGRAM_VIRTUALLY_FRAME" val="{&quot;height&quot;:350,&quot;left&quot;:60,&quot;top&quot;:140,&quot;width&quot;:875.05}"/>
</p:tagLst>
</file>

<file path=ppt/tags/tag18.xml><?xml version="1.0" encoding="utf-8"?>
<p:tagLst xmlns:p="http://schemas.openxmlformats.org/presentationml/2006/main">
  <p:tag name="KSO_WM_DIAGRAM_VIRTUALLY_FRAME" val="{&quot;height&quot;:350,&quot;left&quot;:60,&quot;top&quot;:140,&quot;width&quot;:875.05}"/>
</p:tagLst>
</file>

<file path=ppt/tags/tag19.xml><?xml version="1.0" encoding="utf-8"?>
<p:tagLst xmlns:p="http://schemas.openxmlformats.org/presentationml/2006/main">
  <p:tag name="KSO_WM_DIAGRAM_VIRTUALLY_FRAME" val="{&quot;height&quot;:350,&quot;left&quot;:60,&quot;top&quot;:140,&quot;width&quot;:875.05}"/>
</p:tagLst>
</file>

<file path=ppt/tags/tag20.xml><?xml version="1.0" encoding="utf-8"?>
<p:tagLst xmlns:p="http://schemas.openxmlformats.org/presentationml/2006/main">
  <p:tag name="KSO_WM_DIAGRAM_VIRTUALLY_FRAME" val="{&quot;height&quot;:350,&quot;left&quot;:60,&quot;top&quot;:140,&quot;width&quot;:875.05}"/>
</p:tagLst>
</file>

<file path=ppt/tags/tag21.xml><?xml version="1.0" encoding="utf-8"?>
<p:tagLst xmlns:p="http://schemas.openxmlformats.org/presentationml/2006/main">
  <p:tag name="KSO_WM_DIAGRAM_VIRTUALLY_FRAME" val="{&quot;height&quot;:350,&quot;left&quot;:60,&quot;top&quot;:140,&quot;width&quot;:875.05}"/>
</p:tagLst>
</file>

<file path=ppt/tags/tag22.xml><?xml version="1.0" encoding="utf-8"?>
<p:tagLst xmlns:p="http://schemas.openxmlformats.org/presentationml/2006/main">
  <p:tag name="KSO_WM_DIAGRAM_VIRTUALLY_FRAME" val="{&quot;height&quot;:340,&quot;left&quot;:-7.4,&quot;top&quot;:140,&quot;width&quot;:907.4}"/>
</p:tagLst>
</file>

<file path=ppt/tags/tag23.xml><?xml version="1.0" encoding="utf-8"?>
<p:tagLst xmlns:p="http://schemas.openxmlformats.org/presentationml/2006/main">
  <p:tag name="KSO_WM_DIAGRAM_VIRTUALLY_FRAME" val="{&quot;height&quot;:340,&quot;left&quot;:-7.4,&quot;top&quot;:140,&quot;width&quot;:907.4}"/>
</p:tagLst>
</file>

<file path=ppt/tags/tag24.xml><?xml version="1.0" encoding="utf-8"?>
<p:tagLst xmlns:p="http://schemas.openxmlformats.org/presentationml/2006/main">
  <p:tag name="KSO_WM_DIAGRAM_VIRTUALLY_FRAME" val="{&quot;height&quot;:340,&quot;left&quot;:-7.4,&quot;top&quot;:140,&quot;width&quot;:907.4}"/>
</p:tagLst>
</file>

<file path=ppt/tags/tag25.xml><?xml version="1.0" encoding="utf-8"?>
<p:tagLst xmlns:p="http://schemas.openxmlformats.org/presentationml/2006/main">
  <p:tag name="KSO_WM_DIAGRAM_VIRTUALLY_FRAME" val="{&quot;height&quot;:340,&quot;left&quot;:-7.4,&quot;top&quot;:140,&quot;width&quot;:907.4}"/>
</p:tagLst>
</file>

<file path=ppt/tags/tag26.xml><?xml version="1.0" encoding="utf-8"?>
<p:tagLst xmlns:p="http://schemas.openxmlformats.org/presentationml/2006/main">
  <p:tag name="KSO_WM_DIAGRAM_VIRTUALLY_FRAME" val="{&quot;height&quot;:170,&quot;left&quot;:60,&quot;top&quot;:140,&quot;width&quot;:845}"/>
</p:tagLst>
</file>

<file path=ppt/tags/tag27.xml><?xml version="1.0" encoding="utf-8"?>
<p:tagLst xmlns:p="http://schemas.openxmlformats.org/presentationml/2006/main">
  <p:tag name="KSO_WM_DIAGRAM_VIRTUALLY_FRAME" val="{&quot;height&quot;:170,&quot;left&quot;:60,&quot;top&quot;:140,&quot;width&quot;:845}"/>
</p:tagLst>
</file>

<file path=ppt/tags/tag28.xml><?xml version="1.0" encoding="utf-8"?>
<p:tagLst xmlns:p="http://schemas.openxmlformats.org/presentationml/2006/main">
  <p:tag name="KSO_WM_DIAGRAM_VIRTUALLY_FRAME" val="{&quot;height&quot;:170,&quot;left&quot;:60,&quot;top&quot;:140,&quot;width&quot;:845}"/>
</p:tagLst>
</file>

<file path=ppt/tags/tag29.xml><?xml version="1.0" encoding="utf-8"?>
<p:tagLst xmlns:p="http://schemas.openxmlformats.org/presentationml/2006/main">
  <p:tag name="KSO_WM_DIAGRAM_VIRTUALLY_FRAME" val="{&quot;height&quot;:170,&quot;left&quot;:60,&quot;top&quot;:140,&quot;width&quot;:845}"/>
</p:tagLst>
</file>

<file path=ppt/tags/tag30.xml><?xml version="1.0" encoding="utf-8"?>
<p:tagLst xmlns:p="http://schemas.openxmlformats.org/presentationml/2006/main">
  <p:tag name="KSO_WM_DIAGRAM_VIRTUALLY_FRAME" val="{&quot;height&quot;:170,&quot;left&quot;:60,&quot;top&quot;:140,&quot;width&quot;:845}"/>
</p:tagLst>
</file>

<file path=ppt/tags/tag31.xml><?xml version="1.0" encoding="utf-8"?>
<p:tagLst xmlns:p="http://schemas.openxmlformats.org/presentationml/2006/main">
  <p:tag name="KSO_WM_DIAGRAM_VIRTUALLY_FRAME" val="{&quot;height&quot;:170,&quot;left&quot;:60,&quot;top&quot;:140,&quot;width&quot;:845}"/>
</p:tagLst>
</file>

<file path=ppt/tags/tag32.xml><?xml version="1.0" encoding="utf-8"?>
<p:tagLst xmlns:p="http://schemas.openxmlformats.org/presentationml/2006/main">
  <p:tag name="KSO_WM_DIAGRAM_VIRTUALLY_FRAME" val="{&quot;height&quot;:170,&quot;left&quot;:60,&quot;top&quot;:140,&quot;width&quot;:845}"/>
</p:tagLst>
</file>

<file path=ppt/tags/tag33.xml><?xml version="1.0" encoding="utf-8"?>
<p:tagLst xmlns:p="http://schemas.openxmlformats.org/presentationml/2006/main">
  <p:tag name="KSO_WM_DIAGRAM_VIRTUALLY_FRAME" val="{&quot;height&quot;:170,&quot;left&quot;:60,&quot;top&quot;:140,&quot;width&quot;:845}"/>
</p:tagLst>
</file>

<file path=ppt/tags/tag34.xml><?xml version="1.0" encoding="utf-8"?>
<p:tagLst xmlns:p="http://schemas.openxmlformats.org/presentationml/2006/main">
  <p:tag name="KSO_WM_DIAGRAM_VIRTUALLY_FRAME" val="{&quot;height&quot;:170,&quot;left&quot;:60,&quot;top&quot;:140,&quot;width&quot;:84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3706</Words>
  <Application>WPS 演示</Application>
  <PresentationFormat/>
  <Paragraphs>110</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10</vt:i4>
      </vt:variant>
    </vt:vector>
  </HeadingPairs>
  <TitlesOfParts>
    <vt:vector size="22" baseType="lpstr">
      <vt:lpstr>Arial</vt:lpstr>
      <vt:lpstr>宋体</vt:lpstr>
      <vt:lpstr>Wingdings</vt:lpstr>
      <vt:lpstr>Arial</vt:lpstr>
      <vt:lpstr>Times New Roman</vt:lpstr>
      <vt:lpstr>微软雅黑</vt:lpstr>
      <vt:lpstr>Noto Sans SC</vt:lpstr>
      <vt:lpstr>Times New Roman</vt:lpstr>
      <vt:lpstr>Arial Unicode MS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胡世奇</cp:lastModifiedBy>
  <cp:revision>6</cp:revision>
  <dcterms:created xsi:type="dcterms:W3CDTF">2026-05-20T13:19:00Z</dcterms:created>
  <dcterms:modified xsi:type="dcterms:W3CDTF">2026-05-20T13:49:27Z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588B160F90724841B4B59FB4E4543A81_12</vt:lpwstr>
  </property>
</Properties>
</file>